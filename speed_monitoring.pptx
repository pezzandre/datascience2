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60" r:id="rId4"/>
    <p:sldId id="265" r:id="rId5"/>
    <p:sldId id="261" r:id="rId6"/>
    <p:sldId id="268" r:id="rId7"/>
    <p:sldId id="266" r:id="rId8"/>
    <p:sldId id="267" r:id="rId9"/>
    <p:sldId id="263" r:id="rId10"/>
    <p:sldId id="264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A274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878"/>
    <p:restoredTop sz="85496"/>
  </p:normalViewPr>
  <p:slideViewPr>
    <p:cSldViewPr snapToGrid="0" snapToObjects="1">
      <p:cViewPr varScale="1">
        <p:scale>
          <a:sx n="134" d="100"/>
          <a:sy n="134" d="100"/>
        </p:scale>
        <p:origin x="132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381719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8BD150-2D4D-C884-ADAA-19DD8CD29D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7786D27-F27E-EB8A-1EEF-8AB848B869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62DC0AC-5344-9D26-B1EF-1BB178AFAF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zoom </a:t>
            </a:r>
            <a:r>
              <a:rPr lang="en-US" dirty="0" err="1"/>
              <a:t>sul</a:t>
            </a:r>
            <a:r>
              <a:rPr lang="en-US" dirty="0"/>
              <a:t> primo e </a:t>
            </a:r>
            <a:r>
              <a:rPr lang="en-US" dirty="0" err="1"/>
              <a:t>mostraer</a:t>
            </a:r>
            <a:r>
              <a:rPr lang="en-US" dirty="0"/>
              <a:t> </a:t>
            </a:r>
            <a:r>
              <a:rPr lang="en-US" dirty="0" err="1"/>
              <a:t>una</a:t>
            </a:r>
            <a:r>
              <a:rPr lang="en-US" dirty="0"/>
              <a:t> </a:t>
            </a:r>
            <a:r>
              <a:rPr lang="en-US" dirty="0" err="1"/>
              <a:t>distribuziobe</a:t>
            </a:r>
            <a:r>
              <a:rPr lang="en-US" dirty="0"/>
              <a:t> delle </a:t>
            </a:r>
            <a:r>
              <a:rPr lang="en-US" dirty="0" err="1"/>
              <a:t>velocit`MISURATE</a:t>
            </a:r>
            <a:endParaRPr lang="en-US" dirty="0"/>
          </a:p>
          <a:p>
            <a:r>
              <a:rPr lang="en-US" dirty="0" err="1"/>
              <a:t>mostra</a:t>
            </a:r>
            <a:r>
              <a:rPr lang="en-US" dirty="0"/>
              <a:t> campana </a:t>
            </a:r>
            <a:r>
              <a:rPr lang="en-US" dirty="0" err="1"/>
              <a:t>velocita</a:t>
            </a:r>
            <a:r>
              <a:rPr lang="en-US" dirty="0"/>
              <a:t> con </a:t>
            </a:r>
            <a:r>
              <a:rPr lang="en-US" dirty="0" err="1"/>
              <a:t>rigfa</a:t>
            </a:r>
            <a:r>
              <a:rPr lang="en-US" dirty="0"/>
              <a:t> </a:t>
            </a:r>
            <a:r>
              <a:rPr lang="en-US" dirty="0" err="1"/>
              <a:t>verticale</a:t>
            </a:r>
            <a:r>
              <a:rPr lang="en-US" dirty="0"/>
              <a:t> con dove </a:t>
            </a:r>
            <a:r>
              <a:rPr lang="en-US" dirty="0" err="1"/>
              <a:t>inizia</a:t>
            </a:r>
            <a:r>
              <a:rPr lang="en-US" dirty="0"/>
              <a:t> la </a:t>
            </a:r>
            <a:r>
              <a:rPr lang="en-US" dirty="0" err="1"/>
              <a:t>infrazione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AC15D2-A614-6FBD-F1A5-BE1E5BA4075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948864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strano</a:t>
            </a:r>
            <a:r>
              <a:rPr lang="en-US" dirty="0"/>
              <a:t> </a:t>
            </a:r>
            <a:r>
              <a:rPr lang="en-US" dirty="0" err="1"/>
              <a:t>che</a:t>
            </a:r>
            <a:r>
              <a:rPr lang="en-US" dirty="0"/>
              <a:t> </a:t>
            </a:r>
            <a:r>
              <a:rPr lang="en-US" dirty="0" err="1"/>
              <a:t>c'è</a:t>
            </a:r>
            <a:r>
              <a:rPr lang="en-US" dirty="0"/>
              <a:t> </a:t>
            </a:r>
            <a:r>
              <a:rPr lang="en-US" dirty="0" err="1"/>
              <a:t>più</a:t>
            </a:r>
            <a:r>
              <a:rPr lang="en-US" dirty="0"/>
              <a:t> </a:t>
            </a:r>
            <a:r>
              <a:rPr lang="en-US" dirty="0" err="1"/>
              <a:t>traffico</a:t>
            </a:r>
            <a:r>
              <a:rPr lang="en-US" dirty="0"/>
              <a:t> alle 15 rispetto alle 17</a:t>
            </a:r>
            <a:br>
              <a:rPr lang="en-US" dirty="0"/>
            </a:br>
            <a:br>
              <a:rPr lang="en-US" dirty="0"/>
            </a:br>
            <a:r>
              <a:rPr lang="en-US" dirty="0"/>
              <a:t>Di notte non </a:t>
            </a:r>
            <a:r>
              <a:rPr lang="en-US" dirty="0" err="1"/>
              <a:t>c'è</a:t>
            </a:r>
            <a:r>
              <a:rPr lang="en-US" dirty="0"/>
              <a:t> il radar </a:t>
            </a:r>
            <a:r>
              <a:rPr lang="en-US" dirty="0" err="1"/>
              <a:t>nella</a:t>
            </a:r>
            <a:r>
              <a:rPr lang="en-US" dirty="0"/>
              <a:t> </a:t>
            </a:r>
            <a:r>
              <a:rPr lang="en-US" dirty="0" err="1"/>
              <a:t>stradina</a:t>
            </a:r>
            <a:r>
              <a:rPr lang="en-US" dirty="0"/>
              <a:t> di </a:t>
            </a:r>
            <a:r>
              <a:rPr lang="en-US" dirty="0" err="1"/>
              <a:t>paese</a:t>
            </a:r>
            <a:r>
              <a:rPr lang="en-US" dirty="0"/>
              <a:t> ma </a:t>
            </a:r>
            <a:r>
              <a:rPr lang="en-US" dirty="0" err="1"/>
              <a:t>nelle</a:t>
            </a:r>
            <a:r>
              <a:rPr lang="en-US" dirty="0"/>
              <a:t> </a:t>
            </a:r>
            <a:r>
              <a:rPr lang="en-US" dirty="0" err="1"/>
              <a:t>strade</a:t>
            </a:r>
            <a:r>
              <a:rPr lang="en-US" dirty="0"/>
              <a:t> </a:t>
            </a:r>
            <a:r>
              <a:rPr lang="en-US" dirty="0" err="1"/>
              <a:t>veloci</a:t>
            </a:r>
            <a:r>
              <a:rPr lang="en-US" dirty="0"/>
              <a:t>?</a:t>
            </a:r>
            <a:br>
              <a:rPr lang="en-US" dirty="0"/>
            </a:br>
            <a:r>
              <a:rPr lang="en-US" dirty="0"/>
              <a:t>Vedi se </a:t>
            </a:r>
            <a:r>
              <a:rPr lang="en-US" dirty="0" err="1"/>
              <a:t>è</a:t>
            </a:r>
            <a:r>
              <a:rPr lang="en-US" dirty="0"/>
              <a:t> </a:t>
            </a:r>
            <a:r>
              <a:rPr lang="en-US" dirty="0" err="1"/>
              <a:t>vero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3224B3-B249-ED0F-410A-454744899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2A73309-C954-63AF-9CBA-0790C8A637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CF9AC9-2692-24BB-B0D3-D94C16C63AB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 nota </a:t>
            </a:r>
            <a:r>
              <a:rPr lang="en-US" dirty="0" err="1"/>
              <a:t>che</a:t>
            </a:r>
            <a:r>
              <a:rPr lang="en-US" dirty="0"/>
              <a:t> le </a:t>
            </a:r>
            <a:r>
              <a:rPr lang="en-US" dirty="0" err="1"/>
              <a:t>infrazioni</a:t>
            </a:r>
            <a:r>
              <a:rPr lang="en-US" dirty="0"/>
              <a:t> </a:t>
            </a:r>
            <a:r>
              <a:rPr lang="en-US" dirty="0" err="1"/>
              <a:t>avvengono</a:t>
            </a:r>
            <a:r>
              <a:rPr lang="en-US" dirty="0"/>
              <a:t> </a:t>
            </a:r>
            <a:r>
              <a:rPr lang="en-US" dirty="0" err="1"/>
              <a:t>maggiormente</a:t>
            </a:r>
            <a:r>
              <a:rPr lang="en-US" dirty="0"/>
              <a:t> </a:t>
            </a:r>
            <a:r>
              <a:rPr lang="en-US" dirty="0" err="1"/>
              <a:t>negli</a:t>
            </a:r>
            <a:r>
              <a:rPr lang="en-US" dirty="0"/>
              <a:t> </a:t>
            </a:r>
            <a:r>
              <a:rPr lang="en-US" dirty="0" err="1"/>
              <a:t>orari</a:t>
            </a:r>
            <a:r>
              <a:rPr lang="en-US" dirty="0"/>
              <a:t> con </a:t>
            </a:r>
            <a:r>
              <a:rPr lang="en-US" dirty="0" err="1"/>
              <a:t>pochissimo</a:t>
            </a:r>
            <a:r>
              <a:rPr lang="en-US" dirty="0"/>
              <a:t> </a:t>
            </a:r>
            <a:r>
              <a:rPr lang="en-US" dirty="0" err="1"/>
              <a:t>traffico</a:t>
            </a:r>
            <a:r>
              <a:rPr lang="en-US" dirty="0"/>
              <a:t> -&gt; dove ci </a:t>
            </a:r>
            <a:r>
              <a:rPr lang="en-US" dirty="0" err="1"/>
              <a:t>sono</a:t>
            </a:r>
            <a:r>
              <a:rPr lang="en-US" dirty="0"/>
              <a:t> </a:t>
            </a:r>
            <a:r>
              <a:rPr lang="en-US" dirty="0" err="1"/>
              <a:t>meno</a:t>
            </a:r>
            <a:r>
              <a:rPr lang="en-US" dirty="0"/>
              <a:t> </a:t>
            </a:r>
            <a:r>
              <a:rPr lang="en-US" dirty="0" err="1"/>
              <a:t>misurazioni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D03DD7-E9F2-5219-3BCB-17928D20530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313476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47EDB8-D8B2-21EF-B2E5-6E13FE4F80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53E48EE-0327-3A8C-6374-B348CFF241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89F664E-0D3D-D4EB-FB67-6930C1305C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Mostra</a:t>
            </a:r>
            <a:r>
              <a:rPr lang="en-US" dirty="0"/>
              <a:t> la </a:t>
            </a:r>
            <a:r>
              <a:rPr lang="en-US" dirty="0" err="1"/>
              <a:t>correlazione</a:t>
            </a:r>
            <a:r>
              <a:rPr lang="en-US" dirty="0"/>
              <a:t> </a:t>
            </a:r>
            <a:r>
              <a:rPr lang="en-US" dirty="0" err="1"/>
              <a:t>tra</a:t>
            </a:r>
            <a:r>
              <a:rPr lang="en-US" dirty="0"/>
              <a:t> volume di </a:t>
            </a:r>
            <a:r>
              <a:rPr lang="en-US" dirty="0" err="1"/>
              <a:t>traffico</a:t>
            </a:r>
            <a:r>
              <a:rPr lang="en-US" dirty="0"/>
              <a:t> (grandezza </a:t>
            </a:r>
            <a:r>
              <a:rPr lang="en-US" dirty="0" err="1"/>
              <a:t>pallino</a:t>
            </a:r>
            <a:r>
              <a:rPr lang="en-US" dirty="0"/>
              <a:t>), e </a:t>
            </a:r>
            <a:r>
              <a:rPr lang="en-US" dirty="0" err="1"/>
              <a:t>numero</a:t>
            </a:r>
            <a:r>
              <a:rPr lang="en-US" dirty="0"/>
              <a:t> di </a:t>
            </a:r>
            <a:r>
              <a:rPr lang="en-US" dirty="0" err="1"/>
              <a:t>infrazioni</a:t>
            </a:r>
            <a:r>
              <a:rPr lang="en-US" dirty="0"/>
              <a:t> (</a:t>
            </a:r>
            <a:r>
              <a:rPr lang="en-US" dirty="0" err="1"/>
              <a:t>colore</a:t>
            </a:r>
            <a:r>
              <a:rPr lang="en-US" dirty="0"/>
              <a:t>); Ci </a:t>
            </a:r>
            <a:r>
              <a:rPr lang="en-US" dirty="0" err="1"/>
              <a:t>siamo</a:t>
            </a:r>
            <a:r>
              <a:rPr lang="en-US" dirty="0"/>
              <a:t> </a:t>
            </a:r>
            <a:r>
              <a:rPr lang="en-US" dirty="0" err="1"/>
              <a:t>chiesti</a:t>
            </a:r>
            <a:r>
              <a:rPr lang="en-US" dirty="0"/>
              <a:t> se le </a:t>
            </a:r>
            <a:r>
              <a:rPr lang="en-US" dirty="0" err="1"/>
              <a:t>strade</a:t>
            </a:r>
            <a:r>
              <a:rPr lang="en-US" dirty="0"/>
              <a:t> piu </a:t>
            </a:r>
            <a:r>
              <a:rPr lang="en-US" dirty="0" err="1"/>
              <a:t>trafficate</a:t>
            </a:r>
            <a:r>
              <a:rPr lang="en-US" dirty="0"/>
              <a:t> </a:t>
            </a:r>
            <a:r>
              <a:rPr lang="en-US" dirty="0" err="1"/>
              <a:t>fossero</a:t>
            </a:r>
            <a:r>
              <a:rPr lang="en-US" dirty="0"/>
              <a:t> </a:t>
            </a:r>
            <a:r>
              <a:rPr lang="en-US" dirty="0" err="1"/>
              <a:t>anche</a:t>
            </a:r>
            <a:r>
              <a:rPr lang="en-US" dirty="0"/>
              <a:t> quelle dove </a:t>
            </a:r>
            <a:r>
              <a:rPr lang="en-US" dirty="0" err="1"/>
              <a:t>vengono</a:t>
            </a:r>
            <a:r>
              <a:rPr lang="en-US" dirty="0"/>
              <a:t> </a:t>
            </a:r>
            <a:r>
              <a:rPr lang="en-US" dirty="0" err="1"/>
              <a:t>effettuate</a:t>
            </a:r>
            <a:r>
              <a:rPr lang="en-US" dirty="0"/>
              <a:t> piu </a:t>
            </a:r>
            <a:r>
              <a:rPr lang="en-US" dirty="0" err="1"/>
              <a:t>infrazioni</a:t>
            </a:r>
            <a:r>
              <a:rPr lang="en-US" dirty="0"/>
              <a:t>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7F037F-63CE-9D8A-2A3C-1845F753528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372368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BD2650-687A-E116-F95D-9AB39CA7AB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61350F-1402-F534-F99A-D9ECB1AF25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B3C8614-09D2-202E-92BF-E6425A386D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Mostra</a:t>
            </a:r>
            <a:r>
              <a:rPr lang="en-US" dirty="0"/>
              <a:t> le </a:t>
            </a:r>
            <a:r>
              <a:rPr lang="en-US" dirty="0" err="1"/>
              <a:t>infrazioni</a:t>
            </a:r>
            <a:r>
              <a:rPr lang="en-US" dirty="0"/>
              <a:t> </a:t>
            </a:r>
            <a:r>
              <a:rPr lang="en-US" dirty="0" err="1"/>
              <a:t>peggiori</a:t>
            </a:r>
            <a:r>
              <a:rPr lang="en-US" dirty="0"/>
              <a:t> </a:t>
            </a:r>
            <a:r>
              <a:rPr lang="en-US" dirty="0" err="1"/>
              <a:t>registrate</a:t>
            </a:r>
            <a:r>
              <a:rPr lang="en-US" dirty="0"/>
              <a:t> da ogni radar </a:t>
            </a:r>
            <a:r>
              <a:rPr lang="en-US" dirty="0" err="1"/>
              <a:t>nelle</a:t>
            </a:r>
            <a:r>
              <a:rPr lang="en-US" dirty="0"/>
              <a:t> ore </a:t>
            </a:r>
            <a:r>
              <a:rPr lang="en-US" dirty="0" err="1"/>
              <a:t>notturne</a:t>
            </a:r>
            <a:r>
              <a:rPr lang="en-US" dirty="0"/>
              <a:t> </a:t>
            </a:r>
            <a:r>
              <a:rPr lang="en-US" dirty="0" err="1"/>
              <a:t>tra</a:t>
            </a:r>
            <a:r>
              <a:rPr lang="en-US" dirty="0"/>
              <a:t> le 22 e le 5, </a:t>
            </a:r>
            <a:r>
              <a:rPr lang="en-US" dirty="0" err="1"/>
              <a:t>possiamo</a:t>
            </a:r>
            <a:r>
              <a:rPr lang="en-US" dirty="0"/>
              <a:t> </a:t>
            </a:r>
            <a:r>
              <a:rPr lang="en-US" dirty="0" err="1"/>
              <a:t>notare</a:t>
            </a:r>
            <a:r>
              <a:rPr lang="en-US" dirty="0"/>
              <a:t> </a:t>
            </a:r>
            <a:r>
              <a:rPr lang="en-US" dirty="0" err="1"/>
              <a:t>che</a:t>
            </a:r>
            <a:r>
              <a:rPr lang="en-US" dirty="0"/>
              <a:t> ci </a:t>
            </a:r>
            <a:r>
              <a:rPr lang="en-US" dirty="0" err="1"/>
              <a:t>sono</a:t>
            </a:r>
            <a:r>
              <a:rPr lang="en-US" dirty="0"/>
              <a:t> </a:t>
            </a:r>
            <a:r>
              <a:rPr lang="en-US" dirty="0" err="1"/>
              <a:t>superamenti</a:t>
            </a:r>
            <a:r>
              <a:rPr lang="en-US" dirty="0"/>
              <a:t> </a:t>
            </a:r>
            <a:r>
              <a:rPr lang="en-US" dirty="0" err="1"/>
              <a:t>fino</a:t>
            </a:r>
            <a:r>
              <a:rPr lang="en-US" dirty="0"/>
              <a:t> a 90kmh </a:t>
            </a:r>
            <a:r>
              <a:rPr lang="en-US" dirty="0" err="1"/>
              <a:t>superiori</a:t>
            </a:r>
            <a:r>
              <a:rPr lang="en-US" dirty="0"/>
              <a:t> al </a:t>
            </a:r>
            <a:r>
              <a:rPr lang="en-US" dirty="0" err="1"/>
              <a:t>limite</a:t>
            </a:r>
            <a:endParaRPr lang="en-US" dirty="0"/>
          </a:p>
          <a:p>
            <a:r>
              <a:rPr lang="en-US" dirty="0"/>
              <a:t>Size: zona </a:t>
            </a:r>
            <a:r>
              <a:rPr lang="en-US" dirty="0" err="1"/>
              <a:t>limite</a:t>
            </a:r>
            <a:r>
              <a:rPr lang="en-US" dirty="0"/>
              <a:t> (50, 60, 80)</a:t>
            </a:r>
          </a:p>
          <a:p>
            <a:r>
              <a:rPr lang="en-US" dirty="0" err="1"/>
              <a:t>Colore</a:t>
            </a:r>
            <a:r>
              <a:rPr lang="en-US" dirty="0"/>
              <a:t>: </a:t>
            </a:r>
            <a:r>
              <a:rPr lang="en-US" dirty="0" err="1"/>
              <a:t>superamento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354422-AAE3-4EF5-30BA-4620748D5C3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497635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Guardare</a:t>
            </a:r>
            <a:r>
              <a:rPr lang="en-US" dirty="0"/>
              <a:t> heatmap: </a:t>
            </a:r>
            <a:r>
              <a:rPr lang="en-US" dirty="0" err="1"/>
              <a:t>strano</a:t>
            </a:r>
            <a:r>
              <a:rPr lang="en-US" dirty="0"/>
              <a:t> </a:t>
            </a:r>
            <a:r>
              <a:rPr lang="en-US" dirty="0" err="1"/>
              <a:t>che</a:t>
            </a:r>
            <a:r>
              <a:rPr lang="en-US" dirty="0"/>
              <a:t> </a:t>
            </a:r>
            <a:r>
              <a:rPr lang="en-US" dirty="0" err="1"/>
              <a:t>c'è</a:t>
            </a:r>
            <a:r>
              <a:rPr lang="en-US" dirty="0"/>
              <a:t> </a:t>
            </a:r>
            <a:r>
              <a:rPr lang="en-US" dirty="0" err="1"/>
              <a:t>più</a:t>
            </a:r>
            <a:r>
              <a:rPr lang="en-US" dirty="0"/>
              <a:t> </a:t>
            </a:r>
            <a:r>
              <a:rPr lang="en-US" dirty="0" err="1"/>
              <a:t>traffico</a:t>
            </a:r>
            <a:r>
              <a:rPr lang="en-US" dirty="0"/>
              <a:t> alle 15 rispetto alle 17</a:t>
            </a:r>
            <a:br>
              <a:rPr lang="en-US" dirty="0"/>
            </a:br>
            <a:br>
              <a:rPr lang="en-US" dirty="0"/>
            </a:br>
            <a:r>
              <a:rPr lang="en-US" dirty="0"/>
              <a:t>Esempio Di notte non </a:t>
            </a:r>
            <a:r>
              <a:rPr lang="en-US" dirty="0" err="1"/>
              <a:t>c'è</a:t>
            </a:r>
            <a:r>
              <a:rPr lang="en-US" dirty="0"/>
              <a:t> il radar </a:t>
            </a:r>
            <a:r>
              <a:rPr lang="en-US" dirty="0" err="1"/>
              <a:t>nella</a:t>
            </a:r>
            <a:r>
              <a:rPr lang="en-US" dirty="0"/>
              <a:t> </a:t>
            </a:r>
            <a:r>
              <a:rPr lang="en-US" dirty="0" err="1"/>
              <a:t>stradina</a:t>
            </a:r>
            <a:r>
              <a:rPr lang="en-US" dirty="0"/>
              <a:t> di </a:t>
            </a:r>
            <a:r>
              <a:rPr lang="en-US" dirty="0" err="1"/>
              <a:t>paese</a:t>
            </a:r>
            <a:r>
              <a:rPr lang="en-US" dirty="0"/>
              <a:t> ma </a:t>
            </a:r>
            <a:r>
              <a:rPr lang="en-US" dirty="0" err="1"/>
              <a:t>nelle</a:t>
            </a:r>
            <a:r>
              <a:rPr lang="en-US" dirty="0"/>
              <a:t> </a:t>
            </a:r>
            <a:r>
              <a:rPr lang="en-US" dirty="0" err="1"/>
              <a:t>strade</a:t>
            </a:r>
            <a:r>
              <a:rPr lang="en-US" dirty="0"/>
              <a:t> </a:t>
            </a:r>
            <a:r>
              <a:rPr lang="en-US" dirty="0" err="1"/>
              <a:t>veloci</a:t>
            </a:r>
            <a:r>
              <a:rPr lang="en-US" dirty="0"/>
              <a:t>?</a:t>
            </a:r>
            <a:br>
              <a:rPr lang="en-US" dirty="0"/>
            </a:br>
            <a:r>
              <a:rPr lang="en-US" dirty="0"/>
              <a:t>Vedi se </a:t>
            </a:r>
            <a:r>
              <a:rPr lang="en-US" dirty="0" err="1"/>
              <a:t>è</a:t>
            </a:r>
            <a:r>
              <a:rPr lang="en-US" dirty="0"/>
              <a:t> </a:t>
            </a:r>
            <a:r>
              <a:rPr lang="en-US" dirty="0" err="1"/>
              <a:t>vero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3" name="Text 1"/>
          <p:cNvSpPr/>
          <p:nvPr/>
        </p:nvSpPr>
        <p:spPr>
          <a:xfrm>
            <a:off x="365760" y="45720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Monitoraggio</a:t>
            </a: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della </a:t>
            </a:r>
            <a:r>
              <a:rPr lang="en-US" sz="3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velocità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365760" y="10972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Canton Basilea-Città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07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Science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20574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Andrea Pezzolla &amp; Matteo Maruca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65760" y="246888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Dataset: </a:t>
            </a:r>
            <a:r>
              <a:rPr lang="en-US" sz="1200" i="1" dirty="0" err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Geschwindigkeitsmonitoring</a:t>
            </a:r>
            <a:r>
              <a:rPr lang="en-US" sz="12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</a:t>
            </a:r>
            <a:r>
              <a:rPr lang="en-US" sz="1200" i="1" dirty="0" err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opendata.swiss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65760" y="3108960"/>
            <a:ext cx="2560320" cy="1371600"/>
          </a:xfrm>
          <a:prstGeom prst="rect">
            <a:avLst/>
          </a:prstGeom>
          <a:solidFill>
            <a:srgbClr val="1E3057"/>
          </a:solidFill>
          <a:ln w="1905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9" name="Text 7"/>
          <p:cNvSpPr/>
          <p:nvPr/>
        </p:nvSpPr>
        <p:spPr>
          <a:xfrm>
            <a:off x="457200" y="320040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~1.9 GB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457200" y="38862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Dimensione CSV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200400" y="3108960"/>
            <a:ext cx="2560320" cy="1371600"/>
          </a:xfrm>
          <a:prstGeom prst="rect">
            <a:avLst/>
          </a:prstGeom>
          <a:solidFill>
            <a:srgbClr val="1E3057"/>
          </a:solidFill>
          <a:ln w="1905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12" name="Text 10"/>
          <p:cNvSpPr/>
          <p:nvPr/>
        </p:nvSpPr>
        <p:spPr>
          <a:xfrm>
            <a:off x="3291840" y="320040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3291840" y="38862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Colonne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035040" y="3108960"/>
            <a:ext cx="2560320" cy="1371600"/>
          </a:xfrm>
          <a:prstGeom prst="rect">
            <a:avLst/>
          </a:prstGeom>
          <a:solidFill>
            <a:srgbClr val="1E3057"/>
          </a:solidFill>
          <a:ln w="1905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15" name="Text 13"/>
          <p:cNvSpPr/>
          <p:nvPr/>
        </p:nvSpPr>
        <p:spPr>
          <a:xfrm>
            <a:off x="6126480" y="320040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0B4D8"/>
                </a:solidFill>
                <a:latin typeface="Calibri" pitchFamily="34" charset="0"/>
                <a:cs typeface="Calibri" pitchFamily="34" charset="-120"/>
              </a:rPr>
              <a:t>~5.5 </a:t>
            </a:r>
            <a:r>
              <a:rPr lang="en-US" sz="2800" b="1" dirty="0" err="1">
                <a:solidFill>
                  <a:srgbClr val="00B4D8"/>
                </a:solidFill>
                <a:latin typeface="Calibri" pitchFamily="34" charset="0"/>
                <a:cs typeface="Calibri" pitchFamily="34" charset="-120"/>
              </a:rPr>
              <a:t>mln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6126480" y="38862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Misurazioni</a:t>
            </a:r>
            <a:endParaRPr lang="en-US" sz="1200" dirty="0"/>
          </a:p>
        </p:txBody>
      </p:sp>
      <p:sp>
        <p:nvSpPr>
          <p:cNvPr id="17" name="Text 2">
            <a:extLst>
              <a:ext uri="{FF2B5EF4-FFF2-40B4-BE49-F238E27FC236}">
                <a16:creationId xmlns:a16="http://schemas.microsoft.com/office/drawing/2014/main" id="{1FBF2587-6F26-7E5B-8C40-8299E73D94BA}"/>
              </a:ext>
            </a:extLst>
          </p:cNvPr>
          <p:cNvSpPr/>
          <p:nvPr/>
        </p:nvSpPr>
        <p:spPr>
          <a:xfrm>
            <a:off x="6966373" y="2926080"/>
            <a:ext cx="69765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/>
              <a:t>🇨🇭📸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3" name="Text 1"/>
          <p:cNvSpPr/>
          <p:nvPr/>
        </p:nvSpPr>
        <p:spPr>
          <a:xfrm>
            <a:off x="365760" y="13716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Panoramica del Dataset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65760" y="777240"/>
            <a:ext cx="4389120" cy="347472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5" name="Text 3"/>
          <p:cNvSpPr/>
          <p:nvPr/>
        </p:nvSpPr>
        <p:spPr>
          <a:xfrm>
            <a:off x="457200" y="795528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Cosa contiene?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261872"/>
            <a:ext cx="4389120" cy="384048"/>
          </a:xfrm>
          <a:prstGeom prst="rect">
            <a:avLst/>
          </a:prstGeom>
          <a:solidFill>
            <a:srgbClr val="162040"/>
          </a:solidFill>
          <a:ln w="12700">
            <a:solidFill>
              <a:srgbClr val="2A4580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7" name="Text 5"/>
          <p:cNvSpPr/>
          <p:nvPr/>
        </p:nvSpPr>
        <p:spPr>
          <a:xfrm>
            <a:off x="502920" y="1325880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⏱️  Data/ora misurazione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65760" y="1691640"/>
            <a:ext cx="4389120" cy="384048"/>
          </a:xfrm>
          <a:prstGeom prst="rect">
            <a:avLst/>
          </a:prstGeom>
          <a:solidFill>
            <a:srgbClr val="162040"/>
          </a:solidFill>
          <a:ln w="12700">
            <a:solidFill>
              <a:srgbClr val="2A4580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9" name="Text 7"/>
          <p:cNvSpPr/>
          <p:nvPr/>
        </p:nvSpPr>
        <p:spPr>
          <a:xfrm>
            <a:off x="502920" y="1755648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🚗  Velocità (km/h) per singolo veicolo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65760" y="2121408"/>
            <a:ext cx="4389120" cy="384048"/>
          </a:xfrm>
          <a:prstGeom prst="rect">
            <a:avLst/>
          </a:prstGeom>
          <a:solidFill>
            <a:srgbClr val="162040"/>
          </a:solidFill>
          <a:ln w="12700">
            <a:solidFill>
              <a:srgbClr val="2A4580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11" name="Text 9"/>
          <p:cNvSpPr/>
          <p:nvPr/>
        </p:nvSpPr>
        <p:spPr>
          <a:xfrm>
            <a:off x="502920" y="2185416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📍  Coordinate </a:t>
            </a:r>
            <a:r>
              <a:rPr lang="en-US" sz="115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geografiche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65760" y="2551176"/>
            <a:ext cx="4389120" cy="384048"/>
          </a:xfrm>
          <a:prstGeom prst="rect">
            <a:avLst/>
          </a:prstGeom>
          <a:solidFill>
            <a:srgbClr val="162040"/>
          </a:solidFill>
          <a:ln w="12700">
            <a:solidFill>
              <a:srgbClr val="2A4580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13" name="Text 11"/>
          <p:cNvSpPr/>
          <p:nvPr/>
        </p:nvSpPr>
        <p:spPr>
          <a:xfrm>
            <a:off x="502920" y="2615184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🛣️  Zona limite (30/50 km/h), strada e direzione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65760" y="2980944"/>
            <a:ext cx="4389120" cy="384048"/>
          </a:xfrm>
          <a:prstGeom prst="rect">
            <a:avLst/>
          </a:prstGeom>
          <a:solidFill>
            <a:srgbClr val="162040"/>
          </a:solidFill>
          <a:ln w="12700">
            <a:solidFill>
              <a:srgbClr val="2A4580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15" name="Text 13"/>
          <p:cNvSpPr/>
          <p:nvPr/>
        </p:nvSpPr>
        <p:spPr>
          <a:xfrm>
            <a:off x="502920" y="3044952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 V50, V85 e tasso di infrazioni per postazione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365760" y="3410712"/>
            <a:ext cx="4389120" cy="384048"/>
          </a:xfrm>
          <a:prstGeom prst="rect">
            <a:avLst/>
          </a:prstGeom>
          <a:solidFill>
            <a:srgbClr val="162040"/>
          </a:solidFill>
          <a:ln w="12700">
            <a:solidFill>
              <a:srgbClr val="2A4580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17" name="Text 15"/>
          <p:cNvSpPr/>
          <p:nvPr/>
        </p:nvSpPr>
        <p:spPr>
          <a:xfrm>
            <a:off x="502920" y="3474720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📅  Inizio e fine periodo di misurazione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365760" y="3840480"/>
            <a:ext cx="4389120" cy="384048"/>
          </a:xfrm>
          <a:prstGeom prst="rect">
            <a:avLst/>
          </a:prstGeom>
          <a:solidFill>
            <a:srgbClr val="162040"/>
          </a:solidFill>
          <a:ln w="12700">
            <a:solidFill>
              <a:srgbClr val="2A4580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19" name="Text 17"/>
          <p:cNvSpPr/>
          <p:nvPr/>
        </p:nvSpPr>
        <p:spPr>
          <a:xfrm>
            <a:off x="502920" y="3904488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🔢  Conteggio veicoli e lunghezza media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365760" y="4270248"/>
            <a:ext cx="4389120" cy="384048"/>
          </a:xfrm>
          <a:prstGeom prst="rect">
            <a:avLst/>
          </a:prstGeom>
          <a:solidFill>
            <a:srgbClr val="162040"/>
          </a:solidFill>
          <a:ln w="12700">
            <a:solidFill>
              <a:srgbClr val="2A4580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21" name="Text 19"/>
          <p:cNvSpPr/>
          <p:nvPr/>
        </p:nvSpPr>
        <p:spPr>
          <a:xfrm>
            <a:off x="502920" y="4334256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🆔  ID misuratore con link alle statistiche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937760" y="777240"/>
            <a:ext cx="3931920" cy="347472"/>
          </a:xfrm>
          <a:prstGeom prst="rect">
            <a:avLst/>
          </a:prstGeom>
          <a:solidFill>
            <a:srgbClr val="E07B39"/>
          </a:solidFill>
          <a:ln w="12700">
            <a:solidFill>
              <a:srgbClr val="E07B39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23" name="Text 21"/>
          <p:cNvSpPr/>
          <p:nvPr/>
        </p:nvSpPr>
        <p:spPr>
          <a:xfrm>
            <a:off x="5029200" y="795528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Numeri chiave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937760" y="1307592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4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~5.5 </a:t>
            </a:r>
            <a:r>
              <a:rPr lang="en-US" sz="2400" b="1" dirty="0" err="1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mln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4937760" y="1700784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Misurazioni singole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937760" y="2020824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0B4D8"/>
                </a:solidFill>
                <a:latin typeface="Calibri" pitchFamily="34" charset="0"/>
                <a:cs typeface="Calibri" pitchFamily="34" charset="-120"/>
              </a:rPr>
              <a:t>295</a:t>
            </a:r>
            <a:endParaRPr lang="en-US" sz="2400" dirty="0"/>
          </a:p>
        </p:txBody>
      </p:sp>
      <p:sp>
        <p:nvSpPr>
          <p:cNvPr id="27" name="Text 25"/>
          <p:cNvSpPr/>
          <p:nvPr/>
        </p:nvSpPr>
        <p:spPr>
          <a:xfrm>
            <a:off x="4937760" y="2414016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 err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Postazioni</a:t>
            </a:r>
            <a:r>
              <a:rPr lang="en-US" sz="12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radar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937760" y="2734056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20/ 30 / 40 / 50 / 60 / 80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4937760" y="312724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limite (km/h)</a:t>
            </a:r>
            <a:endParaRPr lang="en-US" sz="1200" dirty="0"/>
          </a:p>
        </p:txBody>
      </p:sp>
      <p:sp>
        <p:nvSpPr>
          <p:cNvPr id="34" name="Text 24">
            <a:extLst>
              <a:ext uri="{FF2B5EF4-FFF2-40B4-BE49-F238E27FC236}">
                <a16:creationId xmlns:a16="http://schemas.microsoft.com/office/drawing/2014/main" id="{1BE88253-9CF9-F35F-5A33-F262EFB275B0}"/>
              </a:ext>
            </a:extLst>
          </p:cNvPr>
          <p:cNvSpPr/>
          <p:nvPr/>
        </p:nvSpPr>
        <p:spPr>
          <a:xfrm>
            <a:off x="4846320" y="3447288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400" dirty="0"/>
          </a:p>
        </p:txBody>
      </p:sp>
      <p:sp>
        <p:nvSpPr>
          <p:cNvPr id="35" name="Text 25">
            <a:extLst>
              <a:ext uri="{FF2B5EF4-FFF2-40B4-BE49-F238E27FC236}">
                <a16:creationId xmlns:a16="http://schemas.microsoft.com/office/drawing/2014/main" id="{74C3B044-AB82-6331-7271-2BA41A980AD7}"/>
              </a:ext>
            </a:extLst>
          </p:cNvPr>
          <p:cNvSpPr/>
          <p:nvPr/>
        </p:nvSpPr>
        <p:spPr>
          <a:xfrm>
            <a:off x="4846320" y="384048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Anni di </a:t>
            </a:r>
            <a:r>
              <a:rPr lang="en-US" sz="1200" dirty="0" err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misurazioni</a:t>
            </a:r>
            <a:r>
              <a:rPr lang="en-US" sz="12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(dal 2024)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5"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15 </a:t>
            </a:r>
            <a:r>
              <a:rPr lang="en-US" sz="2200" b="1" dirty="0" err="1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Postazioni</a:t>
            </a: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per Tasso di Infrazioni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 err="1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Postazioni</a:t>
            </a:r>
            <a:r>
              <a:rPr lang="en-US" sz="1300" i="1" dirty="0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 con la </a:t>
            </a:r>
            <a:r>
              <a:rPr lang="en-US" sz="1300" i="1" dirty="0" err="1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maggior</a:t>
            </a:r>
            <a:r>
              <a:rPr lang="en-US" sz="1300" i="1" dirty="0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percentaule</a:t>
            </a:r>
            <a:r>
              <a:rPr lang="en-US" sz="1300" i="1" dirty="0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 di </a:t>
            </a:r>
            <a:r>
              <a:rPr lang="en-US" sz="1300" i="1" dirty="0" err="1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infrazioni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1234440"/>
            <a:ext cx="8503920" cy="3611880"/>
          </a:xfrm>
          <a:prstGeom prst="rect">
            <a:avLst/>
          </a:prstGeom>
          <a:solidFill>
            <a:srgbClr val="1E3057"/>
          </a:solidFill>
          <a:ln w="12700">
            <a:solidFill>
              <a:srgbClr val="2A4580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6" name="Text 4"/>
          <p:cNvSpPr/>
          <p:nvPr/>
        </p:nvSpPr>
        <p:spPr>
          <a:xfrm>
            <a:off x="365760" y="1234440"/>
            <a:ext cx="850392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A4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grafico ]</a:t>
            </a:r>
            <a:endParaRPr lang="en-US" sz="1400" dirty="0"/>
          </a:p>
        </p:txBody>
      </p:sp>
      <p:pic>
        <p:nvPicPr>
          <p:cNvPr id="12" name="Immagine 11">
            <a:extLst>
              <a:ext uri="{FF2B5EF4-FFF2-40B4-BE49-F238E27FC236}">
                <a16:creationId xmlns:a16="http://schemas.microsoft.com/office/drawing/2014/main" id="{61E0DCA6-117F-5A7A-4D42-2E2248DF12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234439"/>
            <a:ext cx="8494604" cy="361187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74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88FB33A-EE34-6999-024D-89AB075BC7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FE92C946-8ABA-BBCE-2F25-C2C0CDAFE0BB}"/>
              </a:ext>
            </a:extLst>
          </p:cNvPr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D3BD819E-CEF1-45C3-185E-C84560531D61}"/>
              </a:ext>
            </a:extLst>
          </p:cNvPr>
          <p:cNvSpPr/>
          <p:nvPr/>
        </p:nvSpPr>
        <p:spPr>
          <a:xfrm>
            <a:off x="365760" y="16459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Distribuzione </a:t>
            </a:r>
            <a:r>
              <a:rPr lang="en-US" sz="2200" b="1" dirty="0" err="1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velocità</a:t>
            </a: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</a:t>
            </a:r>
            <a:r>
              <a:rPr lang="en-US" sz="2200" b="1" dirty="0" err="1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postazione</a:t>
            </a: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200" b="1" dirty="0" err="1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peggiore</a:t>
            </a:r>
            <a:endParaRPr lang="en-US" sz="22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261D53FC-7098-BF3D-7C2A-F824479AFB9B}"/>
              </a:ext>
            </a:extLst>
          </p:cNvPr>
          <p:cNvSpPr/>
          <p:nvPr/>
        </p:nvSpPr>
        <p:spPr>
          <a:xfrm>
            <a:off x="365760" y="80467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i="1" dirty="0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Distribuzione </a:t>
            </a:r>
            <a:r>
              <a:rPr lang="en-US" sz="1300" i="1" dirty="0" err="1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velocità</a:t>
            </a:r>
            <a:r>
              <a:rPr lang="en-US" sz="1300" i="1" dirty="0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 della </a:t>
            </a:r>
            <a:r>
              <a:rPr lang="en-US" sz="1300" i="1" dirty="0" err="1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postazione</a:t>
            </a:r>
            <a:r>
              <a:rPr lang="en-US" sz="1300" i="1" dirty="0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  con la </a:t>
            </a:r>
            <a:r>
              <a:rPr lang="en-US" sz="1300" i="1" dirty="0" err="1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maggior</a:t>
            </a:r>
            <a:r>
              <a:rPr lang="en-US" sz="1300" i="1" dirty="0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percentaule</a:t>
            </a:r>
            <a:r>
              <a:rPr lang="en-US" sz="1300" i="1" dirty="0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 di </a:t>
            </a:r>
            <a:r>
              <a:rPr lang="en-US" sz="1300" i="1" dirty="0" err="1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infrazioni</a:t>
            </a:r>
            <a:endParaRPr lang="en-US" sz="13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6E3BBB00-9779-1D75-EE40-4CC1BAA35CBA}"/>
              </a:ext>
            </a:extLst>
          </p:cNvPr>
          <p:cNvSpPr/>
          <p:nvPr/>
        </p:nvSpPr>
        <p:spPr>
          <a:xfrm>
            <a:off x="365760" y="1234440"/>
            <a:ext cx="8503920" cy="3611880"/>
          </a:xfrm>
          <a:prstGeom prst="rect">
            <a:avLst/>
          </a:prstGeom>
          <a:solidFill>
            <a:srgbClr val="1E3057"/>
          </a:solidFill>
          <a:ln w="12700">
            <a:solidFill>
              <a:srgbClr val="2A4580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C28B9060-3AB3-54D2-0404-20DEF6B69941}"/>
              </a:ext>
            </a:extLst>
          </p:cNvPr>
          <p:cNvSpPr/>
          <p:nvPr/>
        </p:nvSpPr>
        <p:spPr>
          <a:xfrm>
            <a:off x="365760" y="1234440"/>
            <a:ext cx="850392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A4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grafico ]</a:t>
            </a:r>
            <a:endParaRPr lang="en-US" sz="1400" dirty="0"/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148C6FC9-9D66-2839-29B4-C91903E9FF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1" y="1190369"/>
            <a:ext cx="8503919" cy="37000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90960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6"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Mappa di Calore – </a:t>
            </a:r>
            <a:r>
              <a:rPr lang="en-US" sz="2200" b="1" dirty="0" err="1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Velocità</a:t>
            </a: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media per </a:t>
            </a:r>
            <a:r>
              <a:rPr lang="en-US" sz="2200" b="1" dirty="0" err="1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orario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Heatmap – velocita_kmh media per </a:t>
            </a:r>
            <a:r>
              <a:rPr lang="en-US" sz="1300" i="1" dirty="0" err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giorno</a:t>
            </a:r>
            <a:r>
              <a:rPr lang="en-US" sz="13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× ora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1234440"/>
            <a:ext cx="8503920" cy="3611880"/>
          </a:xfrm>
          <a:prstGeom prst="rect">
            <a:avLst/>
          </a:prstGeom>
          <a:solidFill>
            <a:srgbClr val="1E3057"/>
          </a:solidFill>
          <a:ln w="12700">
            <a:solidFill>
              <a:srgbClr val="2A4580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6" name="Text 4"/>
          <p:cNvSpPr/>
          <p:nvPr/>
        </p:nvSpPr>
        <p:spPr>
          <a:xfrm>
            <a:off x="365760" y="1234440"/>
            <a:ext cx="850392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A4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grafico ]</a:t>
            </a:r>
            <a:endParaRPr lang="en-US" sz="1400" dirty="0"/>
          </a:p>
        </p:txBody>
      </p:sp>
      <p:pic>
        <p:nvPicPr>
          <p:cNvPr id="12" name="Immagine 11">
            <a:extLst>
              <a:ext uri="{FF2B5EF4-FFF2-40B4-BE49-F238E27FC236}">
                <a16:creationId xmlns:a16="http://schemas.microsoft.com/office/drawing/2014/main" id="{8F8FBDB0-6A36-CB34-BBFE-D20411E9CA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59" y="1234440"/>
            <a:ext cx="8494607" cy="36118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74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ABFC21C-AF0D-F181-5836-1EF3ADB229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5CA906A4-FE5D-7EE2-6891-35EED0B6A028}"/>
              </a:ext>
            </a:extLst>
          </p:cNvPr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15D5513F-9F73-2F50-7B34-57BCFC8B28A3}"/>
              </a:ext>
            </a:extLst>
          </p:cNvPr>
          <p:cNvSpPr/>
          <p:nvPr/>
        </p:nvSpPr>
        <p:spPr>
          <a:xfrm>
            <a:off x="365760" y="16459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Mappa di Calore – Tasso </a:t>
            </a:r>
            <a:r>
              <a:rPr lang="en-US" sz="2200" b="1" dirty="0" err="1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infrazioni</a:t>
            </a: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medio per </a:t>
            </a:r>
            <a:r>
              <a:rPr lang="en-US" sz="2200" b="1" dirty="0" err="1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orario</a:t>
            </a:r>
            <a:endParaRPr lang="en-US" sz="22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99FFE15C-9BE4-5606-C073-E1FC119A8A17}"/>
              </a:ext>
            </a:extLst>
          </p:cNvPr>
          <p:cNvSpPr/>
          <p:nvPr/>
        </p:nvSpPr>
        <p:spPr>
          <a:xfrm>
            <a:off x="365760" y="80467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Heatmap – </a:t>
            </a:r>
            <a:r>
              <a:rPr lang="en-US" sz="1300" i="1" dirty="0" err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tasso</a:t>
            </a:r>
            <a:r>
              <a:rPr lang="en-US" sz="13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infrazioni</a:t>
            </a:r>
            <a:r>
              <a:rPr lang="en-US" sz="13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per </a:t>
            </a:r>
            <a:r>
              <a:rPr lang="en-US" sz="1300" i="1" dirty="0" err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giorno</a:t>
            </a:r>
            <a:r>
              <a:rPr lang="en-US" sz="13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× ora</a:t>
            </a:r>
            <a:endParaRPr lang="en-US" sz="13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211F0A79-257D-DF77-51D8-8C3E08EC98E8}"/>
              </a:ext>
            </a:extLst>
          </p:cNvPr>
          <p:cNvSpPr/>
          <p:nvPr/>
        </p:nvSpPr>
        <p:spPr>
          <a:xfrm>
            <a:off x="365760" y="1234440"/>
            <a:ext cx="8503920" cy="3611880"/>
          </a:xfrm>
          <a:prstGeom prst="rect">
            <a:avLst/>
          </a:prstGeom>
          <a:solidFill>
            <a:srgbClr val="1E3057"/>
          </a:solidFill>
          <a:ln w="12700">
            <a:solidFill>
              <a:srgbClr val="2A4580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C742B34F-B5D8-43D1-F6E8-C729E5252DEE}"/>
              </a:ext>
            </a:extLst>
          </p:cNvPr>
          <p:cNvSpPr/>
          <p:nvPr/>
        </p:nvSpPr>
        <p:spPr>
          <a:xfrm>
            <a:off x="365760" y="1234440"/>
            <a:ext cx="850392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A4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grafico ]</a:t>
            </a:r>
            <a:endParaRPr lang="en-US" sz="1400" dirty="0"/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52666C92-5D98-E046-EBED-A16FFCCE34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59" y="1216152"/>
            <a:ext cx="8503919" cy="37000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67299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74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4AD0811-9B76-6461-72D6-0A64719AA7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472E3DE4-9B52-3F53-3BF3-80409D8854C7}"/>
              </a:ext>
            </a:extLst>
          </p:cNvPr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8B574B7-360B-C793-7D24-8BE21679B7C5}"/>
              </a:ext>
            </a:extLst>
          </p:cNvPr>
          <p:cNvSpPr/>
          <p:nvPr/>
        </p:nvSpPr>
        <p:spPr>
          <a:xfrm>
            <a:off x="365760" y="16459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 err="1">
                <a:solidFill>
                  <a:srgbClr val="00B4D8"/>
                </a:solidFill>
                <a:latin typeface="Calibri" pitchFamily="34" charset="0"/>
                <a:cs typeface="Calibri" pitchFamily="34" charset="-120"/>
              </a:rPr>
              <a:t>Correlazione</a:t>
            </a: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cs typeface="Calibri" pitchFamily="34" charset="-120"/>
              </a:rPr>
              <a:t> </a:t>
            </a:r>
            <a:r>
              <a:rPr lang="en-US" sz="2200" b="1" dirty="0" err="1">
                <a:solidFill>
                  <a:srgbClr val="00B4D8"/>
                </a:solidFill>
                <a:latin typeface="Calibri" pitchFamily="34" charset="0"/>
                <a:cs typeface="Calibri" pitchFamily="34" charset="-120"/>
              </a:rPr>
              <a:t>tra</a:t>
            </a: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cs typeface="Calibri" pitchFamily="34" charset="-120"/>
              </a:rPr>
              <a:t> volume di </a:t>
            </a:r>
            <a:r>
              <a:rPr lang="en-US" sz="2200" b="1" dirty="0" err="1">
                <a:solidFill>
                  <a:srgbClr val="00B4D8"/>
                </a:solidFill>
                <a:latin typeface="Calibri" pitchFamily="34" charset="0"/>
                <a:cs typeface="Calibri" pitchFamily="34" charset="-120"/>
              </a:rPr>
              <a:t>traffico</a:t>
            </a: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cs typeface="Calibri" pitchFamily="34" charset="-120"/>
              </a:rPr>
              <a:t> e </a:t>
            </a:r>
            <a:r>
              <a:rPr lang="en-US" sz="2200" b="1" dirty="0" err="1">
                <a:solidFill>
                  <a:srgbClr val="00B4D8"/>
                </a:solidFill>
                <a:latin typeface="Calibri" pitchFamily="34" charset="0"/>
                <a:cs typeface="Calibri" pitchFamily="34" charset="-120"/>
              </a:rPr>
              <a:t>numero</a:t>
            </a: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cs typeface="Calibri" pitchFamily="34" charset="-120"/>
              </a:rPr>
              <a:t> di </a:t>
            </a:r>
            <a:r>
              <a:rPr lang="en-US" sz="2200" b="1" dirty="0" err="1">
                <a:solidFill>
                  <a:srgbClr val="00B4D8"/>
                </a:solidFill>
                <a:latin typeface="Calibri" pitchFamily="34" charset="0"/>
                <a:cs typeface="Calibri" pitchFamily="34" charset="-120"/>
              </a:rPr>
              <a:t>infrazioni</a:t>
            </a:r>
            <a:endParaRPr lang="en-US" sz="22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BCB5492D-C2BC-FDC5-D315-D8902F6A9B4B}"/>
              </a:ext>
            </a:extLst>
          </p:cNvPr>
          <p:cNvSpPr/>
          <p:nvPr/>
        </p:nvSpPr>
        <p:spPr>
          <a:xfrm>
            <a:off x="365760" y="80467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 err="1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Correlazione</a:t>
            </a:r>
            <a:r>
              <a:rPr lang="en-US" sz="1300" i="1" dirty="0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tra</a:t>
            </a:r>
            <a:r>
              <a:rPr lang="en-US" sz="1300" i="1" dirty="0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 volume di </a:t>
            </a:r>
            <a:r>
              <a:rPr lang="en-US" sz="1300" i="1" dirty="0" err="1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traffico</a:t>
            </a:r>
            <a:r>
              <a:rPr lang="en-US" sz="1300" i="1" dirty="0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 e </a:t>
            </a:r>
            <a:r>
              <a:rPr lang="en-US" sz="1300" i="1" dirty="0" err="1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numero</a:t>
            </a:r>
            <a:r>
              <a:rPr lang="en-US" sz="1300" i="1" dirty="0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 di </a:t>
            </a:r>
            <a:r>
              <a:rPr lang="en-US" sz="1300" i="1" dirty="0" err="1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infrazioni</a:t>
            </a:r>
            <a:r>
              <a:rPr lang="en-US" sz="1300" i="1" dirty="0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 per radar. </a:t>
            </a:r>
            <a:endParaRPr lang="en-US" sz="13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31D3A275-7534-566A-FDC8-363D5D194CE2}"/>
              </a:ext>
            </a:extLst>
          </p:cNvPr>
          <p:cNvSpPr/>
          <p:nvPr/>
        </p:nvSpPr>
        <p:spPr>
          <a:xfrm>
            <a:off x="365760" y="1234440"/>
            <a:ext cx="8503920" cy="3611880"/>
          </a:xfrm>
          <a:prstGeom prst="rect">
            <a:avLst/>
          </a:prstGeom>
          <a:solidFill>
            <a:srgbClr val="1E3057"/>
          </a:solidFill>
          <a:ln w="12700">
            <a:solidFill>
              <a:srgbClr val="2A4580"/>
            </a:solidFill>
            <a:prstDash val="solid"/>
          </a:ln>
        </p:spPr>
        <p:txBody>
          <a:bodyPr/>
          <a:lstStyle/>
          <a:p>
            <a:endParaRPr lang="it-CH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CD35290F-1AE9-F892-FC83-52447EB40072}"/>
              </a:ext>
            </a:extLst>
          </p:cNvPr>
          <p:cNvSpPr/>
          <p:nvPr/>
        </p:nvSpPr>
        <p:spPr>
          <a:xfrm>
            <a:off x="365760" y="1234440"/>
            <a:ext cx="850392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A4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grafico ]</a:t>
            </a:r>
            <a:endParaRPr lang="en-US" sz="1400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75A0428F-07FB-377E-BE60-D38973DC1D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7918" y="1447800"/>
            <a:ext cx="8479604" cy="3185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451343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74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1A25298-A55A-1FED-C86C-F9056C36F8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D93EA1D5-1D1A-94A8-2CF6-EB2ADEFCD302}"/>
              </a:ext>
            </a:extLst>
          </p:cNvPr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B7C0276C-26E0-D041-AC9F-5E445CA19F67}"/>
              </a:ext>
            </a:extLst>
          </p:cNvPr>
          <p:cNvSpPr/>
          <p:nvPr/>
        </p:nvSpPr>
        <p:spPr>
          <a:xfrm>
            <a:off x="365760" y="16459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 err="1">
                <a:solidFill>
                  <a:srgbClr val="00B4D8"/>
                </a:solidFill>
                <a:latin typeface="Calibri" pitchFamily="34" charset="0"/>
                <a:cs typeface="Calibri" pitchFamily="34" charset="-120"/>
              </a:rPr>
              <a:t>Pirati</a:t>
            </a: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cs typeface="Calibri" pitchFamily="34" charset="-120"/>
              </a:rPr>
              <a:t> della notte, </a:t>
            </a:r>
            <a:r>
              <a:rPr lang="en-US" sz="2200" b="1" dirty="0" err="1">
                <a:solidFill>
                  <a:srgbClr val="00B4D8"/>
                </a:solidFill>
                <a:latin typeface="Calibri" pitchFamily="34" charset="0"/>
                <a:cs typeface="Calibri" pitchFamily="34" charset="-120"/>
              </a:rPr>
              <a:t>infrazioni</a:t>
            </a: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cs typeface="Calibri" pitchFamily="34" charset="-120"/>
              </a:rPr>
              <a:t> </a:t>
            </a:r>
            <a:r>
              <a:rPr lang="en-US" sz="2200" b="1" dirty="0" err="1">
                <a:solidFill>
                  <a:srgbClr val="00B4D8"/>
                </a:solidFill>
                <a:latin typeface="Calibri" pitchFamily="34" charset="0"/>
                <a:cs typeface="Calibri" pitchFamily="34" charset="-120"/>
              </a:rPr>
              <a:t>su</a:t>
            </a: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cs typeface="Calibri" pitchFamily="34" charset="-120"/>
              </a:rPr>
              <a:t> </a:t>
            </a:r>
            <a:r>
              <a:rPr lang="en-US" sz="2200" b="1" dirty="0" err="1">
                <a:solidFill>
                  <a:srgbClr val="00B4D8"/>
                </a:solidFill>
                <a:latin typeface="Calibri" pitchFamily="34" charset="0"/>
                <a:cs typeface="Calibri" pitchFamily="34" charset="-120"/>
              </a:rPr>
              <a:t>strade</a:t>
            </a: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cs typeface="Calibri" pitchFamily="34" charset="-120"/>
              </a:rPr>
              <a:t> ad </a:t>
            </a:r>
            <a:r>
              <a:rPr lang="en-US" sz="2200" b="1" dirty="0" err="1">
                <a:solidFill>
                  <a:srgbClr val="00B4D8"/>
                </a:solidFill>
                <a:latin typeface="Calibri" pitchFamily="34" charset="0"/>
                <a:cs typeface="Calibri" pitchFamily="34" charset="-120"/>
              </a:rPr>
              <a:t>alta</a:t>
            </a: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cs typeface="Calibri" pitchFamily="34" charset="-120"/>
              </a:rPr>
              <a:t> </a:t>
            </a:r>
            <a:r>
              <a:rPr lang="en-US" sz="2200" b="1" dirty="0" err="1">
                <a:solidFill>
                  <a:srgbClr val="00B4D8"/>
                </a:solidFill>
                <a:latin typeface="Calibri" pitchFamily="34" charset="0"/>
                <a:cs typeface="Calibri" pitchFamily="34" charset="-120"/>
              </a:rPr>
              <a:t>velocità</a:t>
            </a:r>
            <a:endParaRPr lang="en-US" sz="22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1DFAD001-EFCE-2644-2C87-7944626ABECD}"/>
              </a:ext>
            </a:extLst>
          </p:cNvPr>
          <p:cNvSpPr/>
          <p:nvPr/>
        </p:nvSpPr>
        <p:spPr>
          <a:xfrm>
            <a:off x="365760" y="80467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 err="1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Infrazioni</a:t>
            </a:r>
            <a:r>
              <a:rPr lang="en-US" sz="1300" i="1" dirty="0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su</a:t>
            </a:r>
            <a:r>
              <a:rPr lang="en-US" sz="1300" i="1" dirty="0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strade</a:t>
            </a:r>
            <a:r>
              <a:rPr lang="en-US" sz="1300" i="1" dirty="0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 ad </a:t>
            </a:r>
            <a:r>
              <a:rPr lang="en-US" sz="1300" i="1" dirty="0" err="1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alta</a:t>
            </a:r>
            <a:r>
              <a:rPr lang="en-US" sz="1300" i="1" dirty="0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velocità</a:t>
            </a:r>
            <a:r>
              <a:rPr lang="en-US" sz="1300" i="1" dirty="0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 (50, 60, 80)</a:t>
            </a:r>
            <a:r>
              <a:rPr lang="en-US" sz="1300" i="1" dirty="0" err="1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kmh</a:t>
            </a:r>
            <a:r>
              <a:rPr lang="en-US" sz="1300" i="1" dirty="0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, </a:t>
            </a:r>
            <a:r>
              <a:rPr lang="en-US" sz="1300" i="1" dirty="0" err="1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nelle</a:t>
            </a:r>
            <a:r>
              <a:rPr lang="en-US" sz="1300" i="1" dirty="0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 ore </a:t>
            </a:r>
            <a:r>
              <a:rPr lang="en-US" sz="1300" i="1" dirty="0" err="1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notturne</a:t>
            </a:r>
            <a:r>
              <a:rPr lang="en-US" sz="1300" i="1" dirty="0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 (22:00-5:00)</a:t>
            </a:r>
            <a:endParaRPr lang="en-US" sz="13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989CCD95-2381-C8D3-273C-50604454E15D}"/>
              </a:ext>
            </a:extLst>
          </p:cNvPr>
          <p:cNvSpPr/>
          <p:nvPr/>
        </p:nvSpPr>
        <p:spPr>
          <a:xfrm>
            <a:off x="365760" y="1234440"/>
            <a:ext cx="8503920" cy="3611880"/>
          </a:xfrm>
          <a:prstGeom prst="rect">
            <a:avLst/>
          </a:prstGeom>
          <a:solidFill>
            <a:srgbClr val="1E3057"/>
          </a:solidFill>
          <a:ln w="12700">
            <a:solidFill>
              <a:srgbClr val="2A4580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879485CC-06E1-5572-ADB3-C07D24B4E4C5}"/>
              </a:ext>
            </a:extLst>
          </p:cNvPr>
          <p:cNvSpPr/>
          <p:nvPr/>
        </p:nvSpPr>
        <p:spPr>
          <a:xfrm>
            <a:off x="365760" y="1234440"/>
            <a:ext cx="850392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A4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grafico ]</a:t>
            </a:r>
            <a:endParaRPr lang="en-US" sz="14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1EF832D-21E9-06C7-505D-F6A93D1E46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443037"/>
            <a:ext cx="8504962" cy="3194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25972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Analisi Future Pianificate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65760" y="838830"/>
            <a:ext cx="8503920" cy="4007490"/>
          </a:xfrm>
          <a:prstGeom prst="rect">
            <a:avLst/>
          </a:prstGeom>
          <a:solidFill>
            <a:srgbClr val="1E3057"/>
          </a:solidFill>
          <a:ln w="12700">
            <a:solidFill>
              <a:srgbClr val="2A4580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6" name="Text 4"/>
          <p:cNvSpPr/>
          <p:nvPr/>
        </p:nvSpPr>
        <p:spPr>
          <a:xfrm>
            <a:off x="365760" y="1234440"/>
            <a:ext cx="850392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87688" y="958740"/>
            <a:ext cx="8181991" cy="36737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Font typeface="+mj-lt"/>
              <a:buAutoNum type="arabicPeriod"/>
            </a:pPr>
            <a:r>
              <a:rPr lang="en-US" sz="2400" i="1" dirty="0" err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Correlazione</a:t>
            </a:r>
            <a:r>
              <a:rPr lang="en-US" sz="24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i="1" dirty="0" err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meteo</a:t>
            </a:r>
            <a:r>
              <a:rPr lang="en-US" sz="24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400" i="1" dirty="0" err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Differenza</a:t>
            </a:r>
            <a:r>
              <a:rPr lang="en-US" sz="24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i="1" dirty="0" err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velocità</a:t>
            </a:r>
            <a:r>
              <a:rPr lang="en-US" sz="24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</a:t>
            </a:r>
            <a:r>
              <a:rPr lang="en-US" sz="2400" i="1" dirty="0" err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r>
              <a:rPr lang="en-US" sz="24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 </a:t>
            </a:r>
            <a:r>
              <a:rPr lang="en-US" sz="2400" i="1" dirty="0" err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veicolo</a:t>
            </a:r>
            <a:r>
              <a:rPr lang="en-US" sz="24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(moto/camion)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400" i="1" dirty="0" err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Differenza</a:t>
            </a:r>
            <a:r>
              <a:rPr lang="en-US" sz="24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i="1" dirty="0" err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postazioni</a:t>
            </a:r>
            <a:r>
              <a:rPr lang="en-US" sz="24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radar Giorno-notte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4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4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Consigli?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3" name="Text 1"/>
          <p:cNvSpPr/>
          <p:nvPr/>
        </p:nvSpPr>
        <p:spPr>
          <a:xfrm>
            <a:off x="365760" y="45720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Conclusioni &amp; Prossimi Passi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65760" y="1234440"/>
            <a:ext cx="8503920" cy="3611880"/>
          </a:xfrm>
          <a:prstGeom prst="rect">
            <a:avLst/>
          </a:prstGeom>
          <a:solidFill>
            <a:srgbClr val="1E3057"/>
          </a:solidFill>
          <a:ln w="12700">
            <a:solidFill>
              <a:srgbClr val="2A4580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5" name="Text 3"/>
          <p:cNvSpPr/>
          <p:nvPr/>
        </p:nvSpPr>
        <p:spPr>
          <a:xfrm>
            <a:off x="365760" y="1234440"/>
            <a:ext cx="850392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400" dirty="0"/>
          </a:p>
        </p:txBody>
      </p:sp>
      <p:sp>
        <p:nvSpPr>
          <p:cNvPr id="6" name="Text 2">
            <a:extLst>
              <a:ext uri="{FF2B5EF4-FFF2-40B4-BE49-F238E27FC236}">
                <a16:creationId xmlns:a16="http://schemas.microsoft.com/office/drawing/2014/main" id="{6A5EC037-901C-9B09-8D52-3D7B268D9A64}"/>
              </a:ext>
            </a:extLst>
          </p:cNvPr>
          <p:cNvSpPr/>
          <p:nvPr/>
        </p:nvSpPr>
        <p:spPr>
          <a:xfrm>
            <a:off x="526724" y="1234440"/>
            <a:ext cx="8181991" cy="36737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4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Dati: </a:t>
            </a:r>
            <a:r>
              <a:rPr lang="en-US" sz="2400" i="1" dirty="0" err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Informazioni</a:t>
            </a:r>
            <a:r>
              <a:rPr lang="en-US" sz="24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i="1" dirty="0" err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</a:t>
            </a:r>
            <a:r>
              <a:rPr lang="en-US" sz="24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</a:t>
            </a:r>
            <a:r>
              <a:rPr lang="en-US" sz="2400" i="1" dirty="0" err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locali</a:t>
            </a:r>
            <a:r>
              <a:rPr lang="en-US" sz="24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i="1" dirty="0" err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</a:t>
            </a:r>
            <a:r>
              <a:rPr lang="en-US" sz="24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i="1" dirty="0" err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traffico</a:t>
            </a:r>
            <a:r>
              <a:rPr lang="en-US" sz="24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i="1" dirty="0" err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svizzero</a:t>
            </a:r>
            <a:r>
              <a:rPr lang="en-US" sz="24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</a:p>
          <a:p>
            <a:r>
              <a:rPr lang="en-US" sz="2400" i="1" dirty="0" err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L'Obiettivo</a:t>
            </a:r>
            <a:r>
              <a:rPr lang="en-US" sz="24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en-US" sz="2400" i="1" dirty="0" err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Promuovere</a:t>
            </a:r>
            <a:r>
              <a:rPr lang="en-US" sz="24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la </a:t>
            </a:r>
            <a:r>
              <a:rPr lang="en-US" sz="2400" i="1" dirty="0" err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sicurezza</a:t>
            </a:r>
            <a:r>
              <a:rPr lang="en-US" sz="24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i="1" dirty="0" err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stradale</a:t>
            </a:r>
            <a:r>
              <a:rPr lang="en-US" sz="24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i="1" dirty="0" err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urbana</a:t>
            </a:r>
            <a:r>
              <a:rPr lang="en-US" sz="24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</a:p>
          <a:p>
            <a:endParaRPr lang="en-US" sz="2400" i="1" dirty="0">
              <a:solidFill>
                <a:srgbClr val="B0BEC5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r>
              <a:rPr lang="en-US" sz="2400" i="1" dirty="0" err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Prossimo</a:t>
            </a:r>
            <a:r>
              <a:rPr lang="en-US" sz="24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step: </a:t>
            </a:r>
            <a:r>
              <a:rPr lang="en-US" sz="2400" i="1" dirty="0" err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</a:t>
            </a:r>
            <a:r>
              <a:rPr lang="en-US" sz="24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finale.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264</TotalTime>
  <Words>516</Words>
  <Application>Microsoft Macintosh PowerPoint</Application>
  <PresentationFormat>On-screen Show (16:9)</PresentationFormat>
  <Paragraphs>79</Paragraphs>
  <Slides>10</Slides>
  <Notes>10</Notes>
  <HiddenSlides>2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Geschwindigkeitsmonitoring Basel-Stadt</dc:title>
  <dc:subject>PptxGenJS Presentation</dc:subject>
  <dc:creator>PptxGenJS</dc:creator>
  <cp:lastModifiedBy>Maruca Matteo</cp:lastModifiedBy>
  <cp:revision>8</cp:revision>
  <dcterms:created xsi:type="dcterms:W3CDTF">2026-05-03T13:02:29Z</dcterms:created>
  <dcterms:modified xsi:type="dcterms:W3CDTF">2026-05-21T05:38:53Z</dcterms:modified>
</cp:coreProperties>
</file>