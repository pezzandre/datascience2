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60" r:id="rId4"/>
    <p:sldId id="265" r:id="rId5"/>
    <p:sldId id="261" r:id="rId6"/>
    <p:sldId id="268" r:id="rId7"/>
    <p:sldId id="269" r:id="rId8"/>
    <p:sldId id="266" r:id="rId9"/>
    <p:sldId id="267" r:id="rId10"/>
    <p:sldId id="263" r:id="rId11"/>
    <p:sldId id="264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A274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40"/>
    <p:restoredTop sz="88521"/>
  </p:normalViewPr>
  <p:slideViewPr>
    <p:cSldViewPr snapToGrid="0" snapToObjects="1">
      <p:cViewPr varScale="1">
        <p:scale>
          <a:sx n="158" d="100"/>
          <a:sy n="158" d="100"/>
        </p:scale>
        <p:origin x="608" y="184"/>
      </p:cViewPr>
      <p:guideLst/>
    </p:cSldViewPr>
  </p:slideViewPr>
  <p:notesTextViewPr>
    <p:cViewPr>
      <p:scale>
        <a:sx n="1" d="1"/>
        <a:sy n="1" d="1"/>
      </p:scale>
      <p:origin x="0" y="-96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381719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8BD150-2D4D-C884-ADAA-19DD8CD29D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7786D27-F27E-EB8A-1EEF-8AB848B869E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2DC0AC-5344-9D26-B1EF-1BB178AFAF8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grafico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dimostra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un'inosservanza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sistematica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 di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massa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velocità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presso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postazione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"A2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Einfahrt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Wolf".</a:t>
            </a:r>
            <a:b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La "campana" della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distribuzione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è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nettamente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spostata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destra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rispetto alla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linea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rossa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limite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(40 km/h): la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stragrande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maggioranza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dei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veicoli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viaggia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45 e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55 km/h.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indica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in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quel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tratto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l'eccesso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di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velocità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non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è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un'eccezione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isolata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ma il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comportamento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standard di </a:t>
            </a:r>
            <a:r>
              <a:rPr lang="en-GB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guida</a:t>
            </a:r>
            <a:r>
              <a:rPr lang="en-GB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0AC15D2-A614-6FBD-F1A5-BE1E5BA4075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948864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Sembra</a:t>
            </a:r>
            <a:r>
              <a:rPr lang="en-US" dirty="0"/>
              <a:t> </a:t>
            </a:r>
            <a:r>
              <a:rPr lang="en-US" dirty="0" err="1"/>
              <a:t>strano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c'è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traffico</a:t>
            </a:r>
            <a:r>
              <a:rPr lang="en-US" dirty="0"/>
              <a:t> alle 15 rispetto alle 17</a:t>
            </a:r>
          </a:p>
          <a:p>
            <a:r>
              <a:rPr lang="en-US" dirty="0" err="1"/>
              <a:t>Semplicemente</a:t>
            </a:r>
            <a:r>
              <a:rPr lang="en-US" dirty="0"/>
              <a:t> </a:t>
            </a:r>
            <a:r>
              <a:rPr lang="en-US" dirty="0" err="1"/>
              <a:t>perché</a:t>
            </a:r>
            <a:r>
              <a:rPr lang="en-US" dirty="0"/>
              <a:t> non </a:t>
            </a:r>
            <a:r>
              <a:rPr lang="en-US" dirty="0" err="1"/>
              <a:t>rappresenta</a:t>
            </a:r>
            <a:r>
              <a:rPr lang="en-US" dirty="0"/>
              <a:t> il </a:t>
            </a:r>
            <a:r>
              <a:rPr lang="en-US" dirty="0" err="1"/>
              <a:t>numero</a:t>
            </a:r>
            <a:r>
              <a:rPr lang="en-US" dirty="0"/>
              <a:t> </a:t>
            </a:r>
            <a:r>
              <a:rPr lang="en-US" dirty="0" err="1"/>
              <a:t>effettivo</a:t>
            </a:r>
            <a:r>
              <a:rPr lang="en-US" dirty="0"/>
              <a:t> di auto ma solo le </a:t>
            </a:r>
            <a:r>
              <a:rPr lang="en-US" dirty="0" err="1"/>
              <a:t>misurazioni</a:t>
            </a:r>
            <a:r>
              <a:rPr lang="en-US" dirty="0"/>
              <a:t> </a:t>
            </a:r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significa</a:t>
            </a:r>
            <a:r>
              <a:rPr lang="en-US" dirty="0"/>
              <a:t> ”</a:t>
            </a:r>
            <a:r>
              <a:rPr lang="en-US" dirty="0" err="1"/>
              <a:t>quando</a:t>
            </a:r>
            <a:r>
              <a:rPr lang="en-US" dirty="0"/>
              <a:t>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controlli</a:t>
            </a:r>
            <a:r>
              <a:rPr lang="en-US" dirty="0"/>
              <a:t>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3224B3-B249-ED0F-410A-4547448991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2A73309-C954-63AF-9CBA-0790C8A637D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CF9AC9-2692-24BB-B0D3-D94C16C63A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DD03DD7-E9F2-5219-3BCB-17928D20530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31347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3D618-3A3E-E7CA-57C8-5D88E0916B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AFC2154-C247-753E-75D9-E76062F321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98DA0-4188-BB68-C0B3-25528370A2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Sembra</a:t>
            </a:r>
            <a:r>
              <a:rPr lang="en-US" dirty="0"/>
              <a:t> </a:t>
            </a:r>
            <a:r>
              <a:rPr lang="en-US" dirty="0" err="1"/>
              <a:t>strano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c'è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traffico</a:t>
            </a:r>
            <a:r>
              <a:rPr lang="en-US" dirty="0"/>
              <a:t> alle 15 rispetto alle 17</a:t>
            </a:r>
          </a:p>
          <a:p>
            <a:r>
              <a:rPr lang="en-US" dirty="0" err="1"/>
              <a:t>Semplicemente</a:t>
            </a:r>
            <a:r>
              <a:rPr lang="en-US" dirty="0"/>
              <a:t> </a:t>
            </a:r>
            <a:r>
              <a:rPr lang="en-US" dirty="0" err="1"/>
              <a:t>perché</a:t>
            </a:r>
            <a:r>
              <a:rPr lang="en-US" dirty="0"/>
              <a:t>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controlli</a:t>
            </a:r>
            <a:r>
              <a:rPr lang="en-US" dirty="0"/>
              <a:t> in </a:t>
            </a:r>
            <a:r>
              <a:rPr lang="en-US" dirty="0" err="1"/>
              <a:t>strade</a:t>
            </a:r>
            <a:r>
              <a:rPr lang="en-US" dirty="0"/>
              <a:t> </a:t>
            </a:r>
            <a:r>
              <a:rPr lang="en-US" dirty="0" err="1"/>
              <a:t>cantonali</a:t>
            </a:r>
            <a:r>
              <a:rPr lang="en-US" dirty="0"/>
              <a:t> </a:t>
            </a:r>
            <a:r>
              <a:rPr lang="en-US" dirty="0" err="1"/>
              <a:t>ecc</a:t>
            </a:r>
            <a:r>
              <a:rPr lang="en-US" dirty="0"/>
              <a:t>. e non solo in </a:t>
            </a:r>
            <a:r>
              <a:rPr lang="en-US" dirty="0" err="1"/>
              <a:t>stradine</a:t>
            </a:r>
            <a:r>
              <a:rPr lang="en-US" dirty="0"/>
              <a:t> lente (30kmh)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5B9D9-7B2C-D304-322D-8F6C92505ED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30987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7EDB8-D8B2-21EF-B2E5-6E13FE4F80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3E48EE-0327-3A8C-6374-B348CFF241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9F664E-0D3D-D4EB-FB67-6930C1305CD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it-CH" b="1" dirty="0"/>
              <a:t>Domanda di ricerca:</a:t>
            </a:r>
            <a:r>
              <a:rPr lang="it-CH" dirty="0"/>
              <a:t> Un maggior volume di traffico comporta un tasso più alto di infrazioni?</a:t>
            </a:r>
          </a:p>
          <a:p>
            <a:r>
              <a:rPr lang="it-CH" b="1" dirty="0"/>
              <a:t>Visualizzazione:</a:t>
            </a:r>
            <a:endParaRPr lang="it-CH" dirty="0"/>
          </a:p>
          <a:p>
            <a:pPr lvl="1"/>
            <a:r>
              <a:rPr lang="it-CH" b="1" dirty="0"/>
              <a:t>Dimensione:</a:t>
            </a:r>
            <a:r>
              <a:rPr lang="it-CH" dirty="0"/>
              <a:t> Volume di traffico medio.</a:t>
            </a:r>
          </a:p>
          <a:p>
            <a:pPr lvl="1"/>
            <a:r>
              <a:rPr lang="it-CH" b="1" dirty="0"/>
              <a:t>Colore:</a:t>
            </a:r>
            <a:r>
              <a:rPr lang="it-CH" dirty="0"/>
              <a:t> Tasso di infrazione (%).</a:t>
            </a:r>
          </a:p>
          <a:p>
            <a:r>
              <a:rPr lang="it-CH" b="1" dirty="0"/>
              <a:t>Data Processing:</a:t>
            </a:r>
            <a:r>
              <a:rPr lang="it-CH" dirty="0"/>
              <a:t> * Creazione di una colonna booleana per identificare i superamenti del limite.</a:t>
            </a:r>
          </a:p>
          <a:p>
            <a:pPr lvl="1"/>
            <a:r>
              <a:rPr lang="it-CH" dirty="0"/>
              <a:t>Aggregazione dei dati per postazione (latitudine/longitudine) per calcolare transiti totali e infrazioni effettive.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7F037F-63CE-9D8A-2A3C-1845F753528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372368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D2650-687A-E116-F95D-9AB39CA7A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D61350F-1402-F534-F99A-D9ECB1AF250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B3C8614-09D2-202E-92BF-E6425A386D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Mostra</a:t>
            </a:r>
            <a:r>
              <a:rPr lang="en-US" dirty="0"/>
              <a:t> le </a:t>
            </a:r>
            <a:r>
              <a:rPr lang="en-US" dirty="0" err="1"/>
              <a:t>infrazioni</a:t>
            </a:r>
            <a:r>
              <a:rPr lang="en-US" dirty="0"/>
              <a:t> </a:t>
            </a:r>
            <a:r>
              <a:rPr lang="en-US" dirty="0" err="1"/>
              <a:t>peggiori</a:t>
            </a:r>
            <a:r>
              <a:rPr lang="en-US" dirty="0"/>
              <a:t> </a:t>
            </a:r>
            <a:r>
              <a:rPr lang="en-US" dirty="0" err="1"/>
              <a:t>registrate</a:t>
            </a:r>
            <a:r>
              <a:rPr lang="en-US" dirty="0"/>
              <a:t> da ogni radar </a:t>
            </a:r>
            <a:r>
              <a:rPr lang="en-US" dirty="0" err="1"/>
              <a:t>nelle</a:t>
            </a:r>
            <a:r>
              <a:rPr lang="en-US" dirty="0"/>
              <a:t> ore </a:t>
            </a:r>
            <a:r>
              <a:rPr lang="en-US" dirty="0" err="1"/>
              <a:t>notturne</a:t>
            </a:r>
            <a:r>
              <a:rPr lang="en-US" dirty="0"/>
              <a:t> </a:t>
            </a:r>
            <a:r>
              <a:rPr lang="en-US" dirty="0" err="1"/>
              <a:t>tra</a:t>
            </a:r>
            <a:r>
              <a:rPr lang="en-US" dirty="0"/>
              <a:t> le 22 e le 5, </a:t>
            </a:r>
            <a:r>
              <a:rPr lang="en-US" dirty="0" err="1"/>
              <a:t>possiamo</a:t>
            </a:r>
            <a:r>
              <a:rPr lang="en-US" dirty="0"/>
              <a:t> </a:t>
            </a:r>
            <a:r>
              <a:rPr lang="en-US" dirty="0" err="1"/>
              <a:t>notare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ci </a:t>
            </a:r>
            <a:r>
              <a:rPr lang="en-US" dirty="0" err="1"/>
              <a:t>sono</a:t>
            </a:r>
            <a:r>
              <a:rPr lang="en-US" dirty="0"/>
              <a:t> </a:t>
            </a:r>
            <a:r>
              <a:rPr lang="en-US" dirty="0" err="1"/>
              <a:t>superamenti</a:t>
            </a:r>
            <a:r>
              <a:rPr lang="en-US" dirty="0"/>
              <a:t> </a:t>
            </a:r>
            <a:r>
              <a:rPr lang="en-US" dirty="0" err="1"/>
              <a:t>fino</a:t>
            </a:r>
            <a:r>
              <a:rPr lang="en-US" dirty="0"/>
              <a:t> a 90kmh </a:t>
            </a:r>
            <a:r>
              <a:rPr lang="en-US" dirty="0" err="1"/>
              <a:t>superiori</a:t>
            </a:r>
            <a:r>
              <a:rPr lang="en-US" dirty="0"/>
              <a:t> al </a:t>
            </a:r>
            <a:r>
              <a:rPr lang="en-US" dirty="0" err="1"/>
              <a:t>limite</a:t>
            </a:r>
            <a:endParaRPr lang="en-US" dirty="0"/>
          </a:p>
          <a:p>
            <a:r>
              <a:rPr lang="en-US" dirty="0"/>
              <a:t>Size: zona </a:t>
            </a:r>
            <a:r>
              <a:rPr lang="en-US" dirty="0" err="1"/>
              <a:t>limite</a:t>
            </a:r>
            <a:r>
              <a:rPr lang="en-US" dirty="0"/>
              <a:t> (50, 60, 80)</a:t>
            </a:r>
          </a:p>
          <a:p>
            <a:r>
              <a:rPr lang="en-US" dirty="0" err="1"/>
              <a:t>Colore</a:t>
            </a:r>
            <a:r>
              <a:rPr lang="en-US" dirty="0"/>
              <a:t>: </a:t>
            </a:r>
            <a:r>
              <a:rPr lang="en-US" dirty="0" err="1"/>
              <a:t>superamento</a:t>
            </a:r>
            <a:endParaRPr lang="en-US" dirty="0"/>
          </a:p>
          <a:p>
            <a:endParaRPr lang="en-US" dirty="0"/>
          </a:p>
          <a:p>
            <a:r>
              <a:rPr lang="en-US" dirty="0" err="1"/>
              <a:t>Cambiamenti</a:t>
            </a:r>
            <a:r>
              <a:rPr lang="en-US" dirty="0"/>
              <a:t>:</a:t>
            </a:r>
          </a:p>
          <a:p>
            <a:r>
              <a:rPr lang="en-US" dirty="0"/>
              <a:t>Nuovo </a:t>
            </a:r>
            <a:r>
              <a:rPr lang="en-US" dirty="0" err="1"/>
              <a:t>grafico</a:t>
            </a:r>
            <a:r>
              <a:rPr lang="en-US" dirty="0"/>
              <a:t> da fare heatmap:</a:t>
            </a:r>
          </a:p>
          <a:p>
            <a:r>
              <a:rPr lang="en-US" dirty="0"/>
              <a:t>asse x: tempo (anni dal 2024) e poi per ogni anno </a:t>
            </a:r>
            <a:r>
              <a:rPr lang="en-US" dirty="0" err="1"/>
              <a:t>mettiamo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mesi</a:t>
            </a:r>
            <a:endParaRPr lang="en-US" dirty="0"/>
          </a:p>
          <a:p>
            <a:r>
              <a:rPr lang="en-US" dirty="0"/>
              <a:t>asse y: ogni radar</a:t>
            </a:r>
          </a:p>
          <a:p>
            <a:endParaRPr lang="en-US" dirty="0"/>
          </a:p>
          <a:p>
            <a:r>
              <a:rPr lang="en-US" dirty="0"/>
              <a:t>la heatmap </a:t>
            </a:r>
            <a:r>
              <a:rPr lang="en-US" dirty="0" err="1"/>
              <a:t>deve</a:t>
            </a:r>
            <a:r>
              <a:rPr lang="en-US" dirty="0"/>
              <a:t> </a:t>
            </a:r>
            <a:r>
              <a:rPr lang="en-US" dirty="0" err="1"/>
              <a:t>rappresentare</a:t>
            </a:r>
            <a:r>
              <a:rPr lang="en-US" dirty="0"/>
              <a:t> il </a:t>
            </a:r>
            <a:r>
              <a:rPr lang="en-US" dirty="0" err="1"/>
              <a:t>numero</a:t>
            </a:r>
            <a:r>
              <a:rPr lang="en-US" dirty="0"/>
              <a:t> di </a:t>
            </a:r>
            <a:r>
              <a:rPr lang="en-US" dirty="0" err="1"/>
              <a:t>automobili</a:t>
            </a:r>
            <a:r>
              <a:rPr lang="en-US" dirty="0"/>
              <a:t> (o se ne </a:t>
            </a:r>
            <a:r>
              <a:rPr lang="en-US" dirty="0" err="1"/>
              <a:t>è</a:t>
            </a:r>
            <a:r>
              <a:rPr lang="en-US" dirty="0"/>
              <a:t> passata </a:t>
            </a:r>
            <a:r>
              <a:rPr lang="en-US" dirty="0" err="1"/>
              <a:t>almeno</a:t>
            </a:r>
            <a:r>
              <a:rPr lang="en-US" dirty="0"/>
              <a:t> </a:t>
            </a:r>
            <a:r>
              <a:rPr lang="en-US" dirty="0" err="1"/>
              <a:t>una</a:t>
            </a:r>
            <a:r>
              <a:rPr lang="en-US" dirty="0"/>
              <a:t> e </a:t>
            </a:r>
            <a:r>
              <a:rPr lang="en-US" dirty="0" err="1"/>
              <a:t>quindi</a:t>
            </a:r>
            <a:r>
              <a:rPr lang="en-US" dirty="0"/>
              <a:t> </a:t>
            </a:r>
            <a:r>
              <a:rPr lang="en-US" dirty="0" err="1"/>
              <a:t>avro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quadrati</a:t>
            </a:r>
            <a:r>
              <a:rPr lang="en-US" dirty="0"/>
              <a:t> o </a:t>
            </a:r>
            <a:r>
              <a:rPr lang="en-US" dirty="0" err="1"/>
              <a:t>bianchi</a:t>
            </a:r>
            <a:r>
              <a:rPr lang="en-US" dirty="0"/>
              <a:t> o </a:t>
            </a:r>
            <a:r>
              <a:rPr lang="en-US" dirty="0" err="1"/>
              <a:t>neri</a:t>
            </a:r>
            <a:r>
              <a:rPr lang="en-US" dirty="0"/>
              <a:t> per </a:t>
            </a:r>
            <a:r>
              <a:rPr lang="en-US" dirty="0" err="1"/>
              <a:t>verificare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sono</a:t>
            </a:r>
            <a:r>
              <a:rPr lang="en-US" dirty="0"/>
              <a:t> sempre </a:t>
            </a:r>
            <a:r>
              <a:rPr lang="en-US" dirty="0" err="1"/>
              <a:t>accesi</a:t>
            </a:r>
            <a:r>
              <a:rPr lang="en-US" dirty="0"/>
              <a:t> I radar)</a:t>
            </a:r>
          </a:p>
          <a:p>
            <a:endParaRPr lang="en-US" dirty="0"/>
          </a:p>
          <a:p>
            <a:r>
              <a:rPr lang="en-US" dirty="0" err="1"/>
              <a:t>raggruppamento</a:t>
            </a:r>
            <a:r>
              <a:rPr lang="en-US" dirty="0"/>
              <a:t> </a:t>
            </a:r>
            <a:r>
              <a:rPr lang="en-US" dirty="0" err="1"/>
              <a:t>si</a:t>
            </a:r>
            <a:r>
              <a:rPr lang="en-US" dirty="0"/>
              <a:t> </a:t>
            </a:r>
            <a:r>
              <a:rPr lang="en-US" dirty="0" err="1"/>
              <a:t>chiama</a:t>
            </a:r>
            <a:r>
              <a:rPr lang="en-US" dirty="0"/>
              <a:t> resampling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354422-AAE3-4EF5-30BA-4620748D5C3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497635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Guardare</a:t>
            </a:r>
            <a:r>
              <a:rPr lang="en-US" dirty="0"/>
              <a:t> heatmap: </a:t>
            </a:r>
            <a:r>
              <a:rPr lang="en-US" dirty="0" err="1"/>
              <a:t>strano</a:t>
            </a:r>
            <a:r>
              <a:rPr lang="en-US" dirty="0"/>
              <a:t> </a:t>
            </a:r>
            <a:r>
              <a:rPr lang="en-US" dirty="0" err="1"/>
              <a:t>che</a:t>
            </a:r>
            <a:r>
              <a:rPr lang="en-US" dirty="0"/>
              <a:t> </a:t>
            </a:r>
            <a:r>
              <a:rPr lang="en-US" dirty="0" err="1"/>
              <a:t>c'è</a:t>
            </a:r>
            <a:r>
              <a:rPr lang="en-US" dirty="0"/>
              <a:t> </a:t>
            </a:r>
            <a:r>
              <a:rPr lang="en-US" dirty="0" err="1"/>
              <a:t>più</a:t>
            </a:r>
            <a:r>
              <a:rPr lang="en-US" dirty="0"/>
              <a:t> </a:t>
            </a:r>
            <a:r>
              <a:rPr lang="en-US" dirty="0" err="1"/>
              <a:t>traffico</a:t>
            </a:r>
            <a:r>
              <a:rPr lang="en-US" dirty="0"/>
              <a:t> alle 15 rispetto alle 17</a:t>
            </a:r>
            <a:br>
              <a:rPr lang="en-US" dirty="0"/>
            </a:br>
            <a:br>
              <a:rPr lang="en-US" dirty="0"/>
            </a:br>
            <a:r>
              <a:rPr lang="en-US" dirty="0"/>
              <a:t>Esempio Di notte non </a:t>
            </a:r>
            <a:r>
              <a:rPr lang="en-US" dirty="0" err="1"/>
              <a:t>c'è</a:t>
            </a:r>
            <a:r>
              <a:rPr lang="en-US" dirty="0"/>
              <a:t> il radar </a:t>
            </a:r>
            <a:r>
              <a:rPr lang="en-US" dirty="0" err="1"/>
              <a:t>nella</a:t>
            </a:r>
            <a:r>
              <a:rPr lang="en-US" dirty="0"/>
              <a:t> </a:t>
            </a:r>
            <a:r>
              <a:rPr lang="en-US" dirty="0" err="1"/>
              <a:t>stradina</a:t>
            </a:r>
            <a:r>
              <a:rPr lang="en-US" dirty="0"/>
              <a:t> di </a:t>
            </a:r>
            <a:r>
              <a:rPr lang="en-US" dirty="0" err="1"/>
              <a:t>paese</a:t>
            </a:r>
            <a:r>
              <a:rPr lang="en-US" dirty="0"/>
              <a:t> ma </a:t>
            </a:r>
            <a:r>
              <a:rPr lang="en-US" dirty="0" err="1"/>
              <a:t>nelle</a:t>
            </a:r>
            <a:r>
              <a:rPr lang="en-US" dirty="0"/>
              <a:t> </a:t>
            </a:r>
            <a:r>
              <a:rPr lang="en-US" dirty="0" err="1"/>
              <a:t>strade</a:t>
            </a:r>
            <a:r>
              <a:rPr lang="en-US" dirty="0"/>
              <a:t> </a:t>
            </a:r>
            <a:r>
              <a:rPr lang="en-US" dirty="0" err="1"/>
              <a:t>veloci</a:t>
            </a:r>
            <a:r>
              <a:rPr lang="en-US" dirty="0"/>
              <a:t>?</a:t>
            </a:r>
            <a:br>
              <a:rPr lang="en-US" dirty="0"/>
            </a:br>
            <a:r>
              <a:rPr lang="en-US" dirty="0"/>
              <a:t>Vedi se </a:t>
            </a:r>
            <a:r>
              <a:rPr lang="en-US" dirty="0" err="1"/>
              <a:t>è</a:t>
            </a:r>
            <a:r>
              <a:rPr lang="en-US" dirty="0"/>
              <a:t> </a:t>
            </a:r>
            <a:r>
              <a:rPr lang="en-US" dirty="0" err="1"/>
              <a:t>vero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3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Monitoraggio</a:t>
            </a: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della </a:t>
            </a:r>
            <a:r>
              <a:rPr lang="en-US" sz="36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Canton Basilea-Città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07B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Science – Group A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2057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Andrea Pezzolla &amp; Matteo Maruca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65760" y="24688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</a:t>
            </a:r>
            <a:r>
              <a:rPr lang="en-US" sz="12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Geschwindigkeitsmonitoring</a:t>
            </a:r>
            <a:r>
              <a:rPr lang="en-US" sz="12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12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opendata.swiss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9" name="Text 7"/>
          <p:cNvSpPr/>
          <p:nvPr/>
        </p:nvSpPr>
        <p:spPr>
          <a:xfrm>
            <a:off x="45720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~1.9 GB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45720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Dimensione CSV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2" name="Text 10"/>
          <p:cNvSpPr/>
          <p:nvPr/>
        </p:nvSpPr>
        <p:spPr>
          <a:xfrm>
            <a:off x="329184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329184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Colonne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35040" y="3108960"/>
            <a:ext cx="2560320" cy="1371600"/>
          </a:xfrm>
          <a:prstGeom prst="rect">
            <a:avLst/>
          </a:prstGeom>
          <a:solidFill>
            <a:srgbClr val="1E3057"/>
          </a:solidFill>
          <a:ln w="1905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5" name="Text 13"/>
          <p:cNvSpPr/>
          <p:nvPr/>
        </p:nvSpPr>
        <p:spPr>
          <a:xfrm>
            <a:off x="6126480" y="320040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~5.5 </a:t>
            </a:r>
            <a:r>
              <a:rPr lang="en-US" sz="28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mln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6126480" y="388620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</a:t>
            </a:r>
            <a:endParaRPr lang="en-US" sz="1200" dirty="0"/>
          </a:p>
        </p:txBody>
      </p:sp>
      <p:sp>
        <p:nvSpPr>
          <p:cNvPr id="17" name="Text 2">
            <a:extLst>
              <a:ext uri="{FF2B5EF4-FFF2-40B4-BE49-F238E27FC236}">
                <a16:creationId xmlns:a16="http://schemas.microsoft.com/office/drawing/2014/main" id="{1FBF2587-6F26-7E5B-8C40-8299E73D94BA}"/>
              </a:ext>
            </a:extLst>
          </p:cNvPr>
          <p:cNvSpPr/>
          <p:nvPr/>
        </p:nvSpPr>
        <p:spPr>
          <a:xfrm>
            <a:off x="6966373" y="2926080"/>
            <a:ext cx="6976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dirty="0"/>
              <a:t>🇨🇭📸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3716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Panoramica del Dataset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777240"/>
            <a:ext cx="4389120" cy="347472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457200" y="795528"/>
            <a:ext cx="4206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Cosa contiene?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261872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7" name="Text 5"/>
          <p:cNvSpPr/>
          <p:nvPr/>
        </p:nvSpPr>
        <p:spPr>
          <a:xfrm>
            <a:off x="502920" y="132588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⏱️  Data/ora misurazione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65760" y="1691640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9" name="Text 7"/>
          <p:cNvSpPr/>
          <p:nvPr/>
        </p:nvSpPr>
        <p:spPr>
          <a:xfrm>
            <a:off x="502920" y="175564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🚗  Velocità (km/h) per singolo veicolo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65760" y="2121408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1" name="Text 9"/>
          <p:cNvSpPr/>
          <p:nvPr/>
        </p:nvSpPr>
        <p:spPr>
          <a:xfrm>
            <a:off x="502920" y="218541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📍  Coordinate </a:t>
            </a:r>
            <a:r>
              <a:rPr lang="en-US" sz="1150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geografiche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2551176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3" name="Text 11"/>
          <p:cNvSpPr/>
          <p:nvPr/>
        </p:nvSpPr>
        <p:spPr>
          <a:xfrm>
            <a:off x="502920" y="2615184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🛣️  Zona limite (30/50 km/h), strada e direzione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65760" y="2980944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5" name="Text 13"/>
          <p:cNvSpPr/>
          <p:nvPr/>
        </p:nvSpPr>
        <p:spPr>
          <a:xfrm>
            <a:off x="502920" y="3044952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V50, V85 e tasso di infrazioni per postazione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365760" y="3410712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7" name="Text 15"/>
          <p:cNvSpPr/>
          <p:nvPr/>
        </p:nvSpPr>
        <p:spPr>
          <a:xfrm>
            <a:off x="502920" y="3474720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📅  Inizio e fine periodo di misurazione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365760" y="3840480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19" name="Text 17"/>
          <p:cNvSpPr/>
          <p:nvPr/>
        </p:nvSpPr>
        <p:spPr>
          <a:xfrm>
            <a:off x="502920" y="3904488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🔢  Conteggio veicoli e lunghezza media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365760" y="4270248"/>
            <a:ext cx="4389120" cy="384048"/>
          </a:xfrm>
          <a:prstGeom prst="rect">
            <a:avLst/>
          </a:prstGeom>
          <a:solidFill>
            <a:srgbClr val="162040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1" name="Text 19"/>
          <p:cNvSpPr/>
          <p:nvPr/>
        </p:nvSpPr>
        <p:spPr>
          <a:xfrm>
            <a:off x="502920" y="4334256"/>
            <a:ext cx="4206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🆔  ID misuratore con link alle statistiche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937760" y="777240"/>
            <a:ext cx="3931920" cy="347472"/>
          </a:xfrm>
          <a:prstGeom prst="rect">
            <a:avLst/>
          </a:prstGeom>
          <a:solidFill>
            <a:srgbClr val="E07B39"/>
          </a:solidFill>
          <a:ln w="12700">
            <a:solidFill>
              <a:srgbClr val="E07B39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23" name="Text 21"/>
          <p:cNvSpPr/>
          <p:nvPr/>
        </p:nvSpPr>
        <p:spPr>
          <a:xfrm>
            <a:off x="5029200" y="795528"/>
            <a:ext cx="3749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 chiave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937760" y="1307592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~5.5 </a:t>
            </a:r>
            <a:r>
              <a:rPr lang="en-US" sz="24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mln</a:t>
            </a:r>
            <a:endParaRPr lang="en-US" sz="2400" dirty="0"/>
          </a:p>
        </p:txBody>
      </p:sp>
      <p:sp>
        <p:nvSpPr>
          <p:cNvPr id="25" name="Text 23"/>
          <p:cNvSpPr/>
          <p:nvPr/>
        </p:nvSpPr>
        <p:spPr>
          <a:xfrm>
            <a:off x="4937760" y="1700784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 singole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4937760" y="2020824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295</a:t>
            </a:r>
            <a:endParaRPr lang="en-US" sz="2400" dirty="0"/>
          </a:p>
        </p:txBody>
      </p:sp>
      <p:sp>
        <p:nvSpPr>
          <p:cNvPr id="27" name="Text 25"/>
          <p:cNvSpPr/>
          <p:nvPr/>
        </p:nvSpPr>
        <p:spPr>
          <a:xfrm>
            <a:off x="4937760" y="2414016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</a:t>
            </a: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radar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937760" y="2734056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20/ 30 / 40 / 50 / 60 / 80</a:t>
            </a:r>
            <a:endParaRPr lang="en-US" sz="2400" dirty="0"/>
          </a:p>
        </p:txBody>
      </p:sp>
      <p:sp>
        <p:nvSpPr>
          <p:cNvPr id="29" name="Text 27"/>
          <p:cNvSpPr/>
          <p:nvPr/>
        </p:nvSpPr>
        <p:spPr>
          <a:xfrm>
            <a:off x="4937760" y="3127248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Zone limite (km/h)</a:t>
            </a:r>
            <a:endParaRPr lang="en-US" sz="1200" dirty="0"/>
          </a:p>
        </p:txBody>
      </p:sp>
      <p:sp>
        <p:nvSpPr>
          <p:cNvPr id="34" name="Text 24">
            <a:extLst>
              <a:ext uri="{FF2B5EF4-FFF2-40B4-BE49-F238E27FC236}">
                <a16:creationId xmlns:a16="http://schemas.microsoft.com/office/drawing/2014/main" id="{1BE88253-9CF9-F35F-5A33-F262EFB275B0}"/>
              </a:ext>
            </a:extLst>
          </p:cNvPr>
          <p:cNvSpPr/>
          <p:nvPr/>
        </p:nvSpPr>
        <p:spPr>
          <a:xfrm>
            <a:off x="4846320" y="3447288"/>
            <a:ext cx="39319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400" dirty="0"/>
          </a:p>
        </p:txBody>
      </p:sp>
      <p:sp>
        <p:nvSpPr>
          <p:cNvPr id="35" name="Text 25">
            <a:extLst>
              <a:ext uri="{FF2B5EF4-FFF2-40B4-BE49-F238E27FC236}">
                <a16:creationId xmlns:a16="http://schemas.microsoft.com/office/drawing/2014/main" id="{74C3B044-AB82-6331-7271-2BA41A980AD7}"/>
              </a:ext>
            </a:extLst>
          </p:cNvPr>
          <p:cNvSpPr/>
          <p:nvPr/>
        </p:nvSpPr>
        <p:spPr>
          <a:xfrm>
            <a:off x="4846320" y="3840480"/>
            <a:ext cx="3931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Anni di </a:t>
            </a:r>
            <a:r>
              <a:rPr lang="en-US" sz="1200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</a:t>
            </a:r>
            <a:r>
              <a:rPr lang="en-US" sz="1200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(dal 2024)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15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Tasso di Infrazioni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Postazioni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con la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maggior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percentaule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2" name="Immagine 11">
            <a:extLst>
              <a:ext uri="{FF2B5EF4-FFF2-40B4-BE49-F238E27FC236}">
                <a16:creationId xmlns:a16="http://schemas.microsoft.com/office/drawing/2014/main" id="{61E0DCA6-117F-5A7A-4D42-2E2248DF12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39"/>
            <a:ext cx="8494604" cy="361187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88FB33A-EE34-6999-024D-89AB075BC7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FE92C946-8ABA-BBCE-2F25-C2C0CDAFE0BB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D3BD819E-CEF1-45C3-185E-C84560531D61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Distribuzione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postazione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peggiore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261D53FC-7098-BF3D-7C2A-F824479AFB9B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Distribuzione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velocità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della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postazione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 con la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maggior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percentaule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6E3BBB00-9779-1D75-EE40-4CC1BAA35CBA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28B9060-3AB3-54D2-0404-20DEF6B69941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148C6FC9-9D66-2839-29B4-C91903E9FFA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1" y="1190369"/>
            <a:ext cx="8503919" cy="37000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90960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Misurazione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veicoli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giorno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– media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misurazioni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ora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3" name="Immagine 12">
            <a:extLst>
              <a:ext uri="{FF2B5EF4-FFF2-40B4-BE49-F238E27FC236}">
                <a16:creationId xmlns:a16="http://schemas.microsoft.com/office/drawing/2014/main" id="{24C6FEB0-4051-3D7A-1A2A-AA3F6AA273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40"/>
            <a:ext cx="8507986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BFC21C-AF0D-F181-5836-1EF3ADB229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5CA906A4-FE5D-7EE2-6891-35EED0B6A028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15D5513F-9F73-2F50-7B34-57BCFC8B28A3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Mappa di Calore – Tasso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medio per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orario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99FFE15C-9BE4-5606-C073-E1FC119A8A17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–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tasso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per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giorno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× ora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211F0A79-257D-DF77-51D8-8C3E08EC98E8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742B34F-B5D8-43D1-F6E8-C729E5252DEE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5" name="Immagine 14">
            <a:extLst>
              <a:ext uri="{FF2B5EF4-FFF2-40B4-BE49-F238E27FC236}">
                <a16:creationId xmlns:a16="http://schemas.microsoft.com/office/drawing/2014/main" id="{5762F2DA-EE19-5F78-49A8-DA3EFAB020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40"/>
            <a:ext cx="8538994" cy="361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672997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50129B8-E4DE-6B76-0BC9-A2432BB41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EEE77AE3-2F8A-0CC3-E76B-C9D29CE0A3BC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5B52C3B0-B814-C8CA-B170-63256395B692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/Anno con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categoria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veicolo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4C4DBECF-076C-8656-D72F-77C3B08900DA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SubPlot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media annua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infrazioni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veicoli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CB0BA3C2-F945-E20F-0EED-21B8FA22FDB2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0B822438-0145-720B-1E64-8C38E17D03DC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19" name="Immagine 18">
            <a:extLst>
              <a:ext uri="{FF2B5EF4-FFF2-40B4-BE49-F238E27FC236}">
                <a16:creationId xmlns:a16="http://schemas.microsoft.com/office/drawing/2014/main" id="{6F9F199B-2953-EA32-C63D-DDFB19C0D9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40"/>
            <a:ext cx="8503920" cy="36350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49927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4AD0811-9B76-6461-72D6-0A64719AA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472E3DE4-9B52-3F53-3BF3-80409D8854C7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8B574B7-360B-C793-7D24-8BE21679B7C5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Correlazione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tra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volume di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traffico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e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numero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infrazioni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BCB5492D-C2BC-FDC5-D315-D8902F6A9B4B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Correlazione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tra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volume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traffico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e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numero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di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per radar. 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31D3A275-7534-566A-FDC8-363D5D194CE2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D35290F-1AE9-F892-FC83-52447EB40072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8" name="Immagine 7">
            <a:extLst>
              <a:ext uri="{FF2B5EF4-FFF2-40B4-BE49-F238E27FC236}">
                <a16:creationId xmlns:a16="http://schemas.microsoft.com/office/drawing/2014/main" id="{53C93D34-601C-CDD8-C82D-950B1F8474E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234440"/>
            <a:ext cx="8538994" cy="3611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45134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2744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A25298-A55A-1FED-C86C-F9056C36F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93EA1D5-1D1A-94A8-2CF6-EB2ADEFCD302}"/>
              </a:ext>
            </a:extLst>
          </p:cNvPr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B7C0276C-26E0-D041-AC9F-5E445CA19F67}"/>
              </a:ext>
            </a:extLst>
          </p:cNvPr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Pirati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della notte,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infrazioni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su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strade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ad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alta</a:t>
            </a: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cs typeface="Calibri" pitchFamily="34" charset="-120"/>
              </a:rPr>
              <a:t>velocità</a:t>
            </a:r>
            <a:endParaRPr lang="en-US" sz="220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1DFAD001-EFCE-2644-2C87-7944626ABECD}"/>
              </a:ext>
            </a:extLst>
          </p:cNvPr>
          <p:cNvSpPr/>
          <p:nvPr/>
        </p:nvSpPr>
        <p:spPr>
          <a:xfrm>
            <a:off x="365760" y="804672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Infrazioni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su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strade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ad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alta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velocità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(50, 60, 80)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kmh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,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nelle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ore </a:t>
            </a:r>
            <a:r>
              <a:rPr lang="en-US" sz="1300" i="1" dirty="0" err="1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notturne</a:t>
            </a:r>
            <a:r>
              <a:rPr lang="en-US" sz="1300" i="1" dirty="0">
                <a:solidFill>
                  <a:srgbClr val="B0BEC5"/>
                </a:solidFill>
                <a:latin typeface="Calibri" pitchFamily="34" charset="0"/>
                <a:cs typeface="Calibri" pitchFamily="34" charset="-120"/>
              </a:rPr>
              <a:t> (22:00-5:00)</a:t>
            </a:r>
            <a:endParaRPr lang="en-US" sz="1300" dirty="0"/>
          </a:p>
        </p:txBody>
      </p:sp>
      <p:sp>
        <p:nvSpPr>
          <p:cNvPr id="5" name="Shape 3">
            <a:extLst>
              <a:ext uri="{FF2B5EF4-FFF2-40B4-BE49-F238E27FC236}">
                <a16:creationId xmlns:a16="http://schemas.microsoft.com/office/drawing/2014/main" id="{989CCD95-2381-C8D3-273C-50604454E15D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879485CC-06E1-5572-ADB3-C07D24B4E4C5}"/>
              </a:ext>
            </a:extLst>
          </p:cNvPr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2A45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 grafico ]</a:t>
            </a:r>
            <a:endParaRPr lang="en-US" sz="1400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1EF832D-21E9-06C7-505D-F6A93D1E46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443037"/>
            <a:ext cx="8504962" cy="3194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2597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164592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Analisi Future Pianificate</a:t>
            </a:r>
            <a:endParaRPr lang="en-US" sz="2200" dirty="0"/>
          </a:p>
        </p:txBody>
      </p:sp>
      <p:sp>
        <p:nvSpPr>
          <p:cNvPr id="5" name="Shape 3"/>
          <p:cNvSpPr/>
          <p:nvPr/>
        </p:nvSpPr>
        <p:spPr>
          <a:xfrm>
            <a:off x="365760" y="838830"/>
            <a:ext cx="8503920" cy="400749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6" name="Text 4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687688" y="958740"/>
            <a:ext cx="8181991" cy="3673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Font typeface="+mj-lt"/>
              <a:buAutoNum type="arabicPeriod"/>
            </a:pP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Correlazione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meteo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velocità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–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di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veicolo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(moto/camion)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Differenza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postazioni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radar Giorno-notte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</a:t>
            </a:r>
          </a:p>
          <a:p>
            <a:pPr marL="342900" indent="-342900">
              <a:buFont typeface="+mj-lt"/>
              <a:buAutoNum type="arabicPeriod"/>
            </a:pP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Consigli?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0B4D8"/>
          </a:solidFill>
          <a:ln w="12700">
            <a:solidFill>
              <a:srgbClr val="00B4D8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3" name="Text 1"/>
          <p:cNvSpPr/>
          <p:nvPr/>
        </p:nvSpPr>
        <p:spPr>
          <a:xfrm>
            <a:off x="365760" y="45720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 err="1">
                <a:solidFill>
                  <a:srgbClr val="00B4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Conclusioni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solidFill>
            <a:srgbClr val="1E3057"/>
          </a:solidFill>
          <a:ln w="12700">
            <a:solidFill>
              <a:srgbClr val="2A4580"/>
            </a:solidFill>
            <a:prstDash val="solid"/>
          </a:ln>
        </p:spPr>
        <p:txBody>
          <a:bodyPr/>
          <a:lstStyle/>
          <a:p>
            <a:endParaRPr lang="it-CH"/>
          </a:p>
        </p:txBody>
      </p:sp>
      <p:sp>
        <p:nvSpPr>
          <p:cNvPr id="5" name="Text 3"/>
          <p:cNvSpPr/>
          <p:nvPr/>
        </p:nvSpPr>
        <p:spPr>
          <a:xfrm>
            <a:off x="365760" y="1234440"/>
            <a:ext cx="850392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endParaRPr lang="en-US" sz="1400" dirty="0"/>
          </a:p>
        </p:txBody>
      </p:sp>
      <p:sp>
        <p:nvSpPr>
          <p:cNvPr id="6" name="Text 2">
            <a:extLst>
              <a:ext uri="{FF2B5EF4-FFF2-40B4-BE49-F238E27FC236}">
                <a16:creationId xmlns:a16="http://schemas.microsoft.com/office/drawing/2014/main" id="{6A5EC037-901C-9B09-8D52-3D7B268D9A64}"/>
              </a:ext>
            </a:extLst>
          </p:cNvPr>
          <p:cNvSpPr/>
          <p:nvPr/>
        </p:nvSpPr>
        <p:spPr>
          <a:xfrm>
            <a:off x="526724" y="1234440"/>
            <a:ext cx="8181991" cy="367371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Dati: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Informazioni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locali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svizzero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L'Obiettivo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Promuovere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la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sicurezza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stradale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2400" i="1" dirty="0" err="1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urbana</a:t>
            </a:r>
            <a:r>
              <a:rPr lang="en-US" sz="24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</a:p>
          <a:p>
            <a:endParaRPr lang="en-US" sz="2400" i="1" dirty="0">
              <a:solidFill>
                <a:srgbClr val="B0BEC5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922</TotalTime>
  <Words>692</Words>
  <Application>Microsoft Macintosh PowerPoint</Application>
  <PresentationFormat>Presentazione su schermo (16:9)</PresentationFormat>
  <Paragraphs>96</Paragraphs>
  <Slides>11</Slides>
  <Notes>11</Notes>
  <HiddenSlides>1</HiddenSlides>
  <MMClips>0</MMClips>
  <ScaleCrop>false</ScaleCrop>
  <HeadingPairs>
    <vt:vector size="6" baseType="variant">
      <vt:variant>
        <vt:lpstr>Caratteri utilizzati</vt:lpstr>
      </vt:variant>
      <vt:variant>
        <vt:i4>2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Geschwindigkeitsmonitoring Basel-Stadt</dc:title>
  <dc:subject>PptxGenJS Presentation</dc:subject>
  <dc:creator>PptxGenJS</dc:creator>
  <cp:lastModifiedBy>Pezzolla Andrea</cp:lastModifiedBy>
  <cp:revision>15</cp:revision>
  <dcterms:created xsi:type="dcterms:W3CDTF">2026-05-03T13:02:29Z</dcterms:created>
  <dcterms:modified xsi:type="dcterms:W3CDTF">2026-05-26T15:29:18Z</dcterms:modified>
</cp:coreProperties>
</file>