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0" r:id="rId4"/>
    <p:sldId id="270" r:id="rId5"/>
    <p:sldId id="265" r:id="rId6"/>
    <p:sldId id="261" r:id="rId7"/>
    <p:sldId id="268" r:id="rId8"/>
    <p:sldId id="269" r:id="rId9"/>
    <p:sldId id="266" r:id="rId10"/>
    <p:sldId id="271" r:id="rId11"/>
    <p:sldId id="264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7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48"/>
    <p:restoredTop sz="82944"/>
  </p:normalViewPr>
  <p:slideViewPr>
    <p:cSldViewPr snapToGrid="0" snapToObjects="1">
      <p:cViewPr varScale="1">
        <p:scale>
          <a:sx n="147" d="100"/>
          <a:sy n="147" d="100"/>
        </p:scale>
        <p:origin x="72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8171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Andrea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andrea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andrea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6AE5E-B65F-9EA1-72E3-B0008A70A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68C20B-481F-BA53-43E5-6C21A17716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D319FD-7128-5AF9-C70E-AF3AE86598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Maruh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CH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calcolato manualmente senza usare la colonna gia presente nel dataset, magari diverso per la tolleranza.</a:t>
            </a:r>
          </a:p>
          <a:p>
            <a:endParaRPr lang="en-US" dirty="0"/>
          </a:p>
          <a:p>
            <a:r>
              <a:rPr lang="en-US" dirty="0"/>
              <a:t>Visto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sembrava</a:t>
            </a:r>
            <a:r>
              <a:rPr lang="en-US" dirty="0"/>
              <a:t> </a:t>
            </a:r>
            <a:r>
              <a:rPr lang="en-US" dirty="0" err="1"/>
              <a:t>strano</a:t>
            </a:r>
            <a:r>
              <a:rPr lang="en-US" dirty="0"/>
              <a:t> 80% ho </a:t>
            </a:r>
            <a:r>
              <a:rPr lang="en-US" dirty="0" err="1"/>
              <a:t>filtrato</a:t>
            </a:r>
            <a:r>
              <a:rPr lang="en-US" dirty="0"/>
              <a:t> solo le </a:t>
            </a:r>
            <a:r>
              <a:rPr lang="en-US" dirty="0" err="1"/>
              <a:t>strade</a:t>
            </a:r>
            <a:r>
              <a:rPr lang="en-US" dirty="0"/>
              <a:t> con </a:t>
            </a:r>
            <a:r>
              <a:rPr lang="en-US" dirty="0" err="1"/>
              <a:t>almeno</a:t>
            </a:r>
            <a:r>
              <a:rPr lang="en-US" dirty="0"/>
              <a:t> 1000 </a:t>
            </a:r>
            <a:r>
              <a:rPr lang="en-US" dirty="0" err="1"/>
              <a:t>registrazioni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F0716D-43EC-EE0B-3CB4-0DCEADFAF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2414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BD150-2D4D-C884-ADAA-19DD8CD29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86D27-F27E-EB8A-1EEF-8AB848B86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DC0AC-5344-9D26-B1EF-1BB178AFA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andrea</a:t>
            </a:r>
            <a:endParaRPr lang="en-GB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grafico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dimostra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un'inosservanza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sistematica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massa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velocità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presso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postazione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"A2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Einfahrt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Wolf".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"campana" della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distribuzione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è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nettamente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spostata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rispetto alla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rossa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(40 km/h): 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stragrande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maggioranza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veicoli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viaggia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45 e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55 km/h.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quel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tratto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l'eccesso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velocità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è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un'eccezione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isolata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 il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comportamento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standard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guida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en-US" dirty="0"/>
          </a:p>
          <a:p>
            <a:endParaRPr lang="en-US" dirty="0"/>
          </a:p>
          <a:p>
            <a:r>
              <a:rPr lang="en-US" dirty="0"/>
              <a:t>Linea </a:t>
            </a:r>
            <a:r>
              <a:rPr lang="en-US" dirty="0" err="1"/>
              <a:t>rossa</a:t>
            </a:r>
            <a:r>
              <a:rPr lang="en-US" dirty="0"/>
              <a:t> -&gt; V-Line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C15D2-A614-6FBD-F1A5-BE1E5BA40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886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Maruh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CH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grafico mostra come il numero di registrazioni medie giornaliere siano più frequenti durante le ore del giorno rispetto a quelle notturne.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 err="1"/>
              <a:t>Sembra</a:t>
            </a:r>
            <a:r>
              <a:rPr lang="en-US" dirty="0"/>
              <a:t> </a:t>
            </a:r>
            <a:r>
              <a:rPr lang="en-US" dirty="0" err="1"/>
              <a:t>strano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c'è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alle 15 rispetto alle 17</a:t>
            </a:r>
          </a:p>
          <a:p>
            <a:r>
              <a:rPr lang="en-US" dirty="0" err="1"/>
              <a:t>Semplicemente</a:t>
            </a:r>
            <a:r>
              <a:rPr lang="en-US" dirty="0"/>
              <a:t> </a:t>
            </a:r>
            <a:r>
              <a:rPr lang="en-US" dirty="0" err="1"/>
              <a:t>perché</a:t>
            </a:r>
            <a:r>
              <a:rPr lang="en-US" dirty="0"/>
              <a:t> non </a:t>
            </a:r>
            <a:r>
              <a:rPr lang="en-US" dirty="0" err="1"/>
              <a:t>rappresenta</a:t>
            </a:r>
            <a:r>
              <a:rPr lang="en-US" dirty="0"/>
              <a:t> il </a:t>
            </a:r>
            <a:r>
              <a:rPr lang="en-US" dirty="0" err="1"/>
              <a:t>numero</a:t>
            </a:r>
            <a:r>
              <a:rPr lang="en-US" dirty="0"/>
              <a:t> </a:t>
            </a:r>
            <a:r>
              <a:rPr lang="en-US" dirty="0" err="1"/>
              <a:t>effettivo</a:t>
            </a:r>
            <a:r>
              <a:rPr lang="en-US" dirty="0"/>
              <a:t> di auto ma solo le </a:t>
            </a:r>
            <a:r>
              <a:rPr lang="en-US" dirty="0" err="1"/>
              <a:t>misurazioni</a:t>
            </a:r>
            <a:r>
              <a:rPr lang="en-US" dirty="0"/>
              <a:t>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significa</a:t>
            </a:r>
            <a:r>
              <a:rPr lang="en-US" dirty="0"/>
              <a:t> ”</a:t>
            </a:r>
            <a:r>
              <a:rPr lang="en-US" dirty="0" err="1"/>
              <a:t>quando</a:t>
            </a:r>
            <a:r>
              <a:rPr lang="en-US" dirty="0"/>
              <a:t>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controlli</a:t>
            </a:r>
            <a:r>
              <a:rPr lang="en-US" dirty="0"/>
              <a:t>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224B3-B249-ED0F-410A-454744899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A73309-C954-63AF-9CBA-0790C8A637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F9AC9-2692-24BB-B0D3-D94C16C63A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Maruh</a:t>
            </a:r>
            <a:endParaRPr lang="en-US" dirty="0"/>
          </a:p>
          <a:p>
            <a:endParaRPr lang="en-US" dirty="0"/>
          </a:p>
          <a:p>
            <a:r>
              <a:rPr lang="it-CH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grafico mostra chiaramente che in percentuale il numero di infrazioni avviene maggiormente nelle ore notturne rispetto alle ore del giorno.</a:t>
            </a:r>
          </a:p>
          <a:p>
            <a:r>
              <a:rPr lang="it-CH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(Si tende a superare il limite durante le ore notturne).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03DD7-E9F2-5219-3BCB-17928D2053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1347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3D618-3A3E-E7CA-57C8-5D88E0916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FC2154-C247-753E-75D9-E76062F321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98DA0-4188-BB68-C0B3-25528370A2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Andrea</a:t>
            </a:r>
          </a:p>
          <a:p>
            <a:endParaRPr lang="en-US" dirty="0"/>
          </a:p>
          <a:p>
            <a:r>
              <a:rPr lang="en-US" dirty="0" err="1"/>
              <a:t>Utilizzando</a:t>
            </a:r>
            <a:r>
              <a:rPr lang="en-US" dirty="0"/>
              <a:t> la Colonna “</a:t>
            </a:r>
            <a:r>
              <a:rPr lang="en-US" dirty="0" err="1"/>
              <a:t>Lunghezza</a:t>
            </a:r>
            <a:r>
              <a:rPr lang="en-US" dirty="0"/>
              <a:t> </a:t>
            </a:r>
            <a:r>
              <a:rPr lang="en-US" dirty="0" err="1"/>
              <a:t>veicolo</a:t>
            </a:r>
            <a:r>
              <a:rPr lang="en-US" dirty="0"/>
              <a:t>”, </a:t>
            </a:r>
            <a:r>
              <a:rPr lang="en-US" dirty="0" err="1"/>
              <a:t>abbiamo</a:t>
            </a:r>
            <a:r>
              <a:rPr lang="en-US" dirty="0"/>
              <a:t> </a:t>
            </a:r>
            <a:r>
              <a:rPr lang="en-US" dirty="0" err="1"/>
              <a:t>stimato</a:t>
            </a:r>
            <a:r>
              <a:rPr lang="en-US" dirty="0"/>
              <a:t> la </a:t>
            </a:r>
            <a:r>
              <a:rPr lang="en-US" dirty="0" err="1"/>
              <a:t>categoria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delle </a:t>
            </a:r>
            <a:r>
              <a:rPr lang="en-US" dirty="0" err="1"/>
              <a:t>misure</a:t>
            </a:r>
            <a:r>
              <a:rPr lang="en-US" dirty="0"/>
              <a:t> </a:t>
            </a:r>
            <a:r>
              <a:rPr lang="en-US" dirty="0" err="1"/>
              <a:t>medie</a:t>
            </a:r>
            <a:r>
              <a:rPr lang="en-US" dirty="0"/>
              <a:t>. Es. 0m – 2.5m = moto.</a:t>
            </a:r>
          </a:p>
          <a:p>
            <a:endParaRPr lang="en-US" dirty="0"/>
          </a:p>
          <a:p>
            <a:r>
              <a:rPr lang="en-US" dirty="0"/>
              <a:t>A sinistra </a:t>
            </a:r>
            <a:r>
              <a:rPr lang="en-US" dirty="0" err="1"/>
              <a:t>abbiamo</a:t>
            </a:r>
            <a:r>
              <a:rPr lang="en-US" dirty="0"/>
              <a:t> le </a:t>
            </a:r>
            <a:r>
              <a:rPr lang="en-US" dirty="0" err="1"/>
              <a:t>infrazioni</a:t>
            </a:r>
            <a:r>
              <a:rPr lang="en-US" dirty="0"/>
              <a:t> </a:t>
            </a:r>
            <a:r>
              <a:rPr lang="en-US" dirty="0" err="1"/>
              <a:t>medie</a:t>
            </a:r>
            <a:r>
              <a:rPr lang="en-US" dirty="0"/>
              <a:t> / anno per </a:t>
            </a:r>
            <a:r>
              <a:rPr lang="en-US" dirty="0" err="1"/>
              <a:t>categoria</a:t>
            </a:r>
            <a:r>
              <a:rPr lang="en-US" dirty="0"/>
              <a:t> </a:t>
            </a:r>
            <a:r>
              <a:rPr lang="en-US" dirty="0" err="1"/>
              <a:t>veicolo</a:t>
            </a:r>
            <a:r>
              <a:rPr lang="en-US" dirty="0"/>
              <a:t> e zona </a:t>
            </a:r>
            <a:r>
              <a:rPr lang="en-US" dirty="0" err="1"/>
              <a:t>limite</a:t>
            </a:r>
            <a:r>
              <a:rPr lang="en-US" dirty="0"/>
              <a:t>,</a:t>
            </a:r>
          </a:p>
          <a:p>
            <a:endParaRPr lang="en-US" dirty="0"/>
          </a:p>
          <a:p>
            <a:r>
              <a:rPr lang="en-US" dirty="0"/>
              <a:t>A Destra </a:t>
            </a:r>
            <a:r>
              <a:rPr lang="en-US" dirty="0" err="1"/>
              <a:t>vediamo</a:t>
            </a:r>
            <a:r>
              <a:rPr lang="en-US" dirty="0"/>
              <a:t> la </a:t>
            </a:r>
            <a:r>
              <a:rPr lang="en-US" dirty="0" err="1"/>
              <a:t>percentuale</a:t>
            </a:r>
            <a:r>
              <a:rPr lang="en-US" dirty="0"/>
              <a:t> delle </a:t>
            </a:r>
            <a:r>
              <a:rPr lang="en-US" dirty="0" err="1"/>
              <a:t>infrazioni</a:t>
            </a:r>
            <a:r>
              <a:rPr lang="en-US" dirty="0"/>
              <a:t> per ogni zona.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5B9D9-7B2C-D304-322D-8F6C92505E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3098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7EDB8-D8B2-21EF-B2E5-6E13FE4F8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3E48EE-0327-3A8C-6374-B348CFF241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9F664E-0D3D-D4EB-FB67-6930C1305C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CH" b="1" dirty="0"/>
              <a:t>Maruh</a:t>
            </a:r>
          </a:p>
          <a:p>
            <a:endParaRPr lang="it-CH" b="1" dirty="0"/>
          </a:p>
          <a:p>
            <a:r>
              <a:rPr lang="it-CH" b="1" dirty="0"/>
              <a:t>Domanda di ricerca:</a:t>
            </a:r>
            <a:r>
              <a:rPr lang="it-CH" dirty="0"/>
              <a:t> Un maggior volume di traffico comporta un tasso più alto di infrazioni?</a:t>
            </a:r>
          </a:p>
          <a:p>
            <a:r>
              <a:rPr lang="it-CH" b="1" dirty="0"/>
              <a:t>Visualizzazione:</a:t>
            </a:r>
            <a:endParaRPr lang="it-CH" dirty="0"/>
          </a:p>
          <a:p>
            <a:pPr lvl="1"/>
            <a:r>
              <a:rPr lang="it-CH" b="1" dirty="0"/>
              <a:t>Dimensione:</a:t>
            </a:r>
            <a:r>
              <a:rPr lang="it-CH" dirty="0"/>
              <a:t> Volume di traffico medio.</a:t>
            </a:r>
          </a:p>
          <a:p>
            <a:pPr lvl="1"/>
            <a:r>
              <a:rPr lang="it-CH" b="1" dirty="0"/>
              <a:t>Colore:</a:t>
            </a:r>
            <a:r>
              <a:rPr lang="it-CH" dirty="0"/>
              <a:t> Tasso di infrazione (%).</a:t>
            </a:r>
          </a:p>
          <a:p>
            <a:r>
              <a:rPr lang="it-CH" b="1" dirty="0"/>
              <a:t>Data Processing:</a:t>
            </a:r>
            <a:r>
              <a:rPr lang="it-CH" dirty="0"/>
              <a:t> * Creazione di una colonna booleana per identificare i superamenti del limite.</a:t>
            </a:r>
          </a:p>
          <a:p>
            <a:pPr lvl="1"/>
            <a:r>
              <a:rPr lang="it-CH" dirty="0"/>
              <a:t>Aggregazione dei dati per postazione (latitudine/longitudine) per calcolare transiti totali e infrazioni effettive.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F037F-63CE-9D8A-2A3C-1845F75352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723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200D2-0787-734C-024E-AFA065125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724B89-4F79-1D6A-E452-74C15B4B77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18362B-9F8B-5FE6-DAA4-2360352258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CH" dirty="0"/>
              <a:t>Maruh</a:t>
            </a:r>
          </a:p>
          <a:p>
            <a:endParaRPr lang="it-CH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CH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grafico mostra un evidente pattern a diagonale, indicando un'attivazione sequenziale dei radar nel tempo. Questo suggerisce che le postazioni non operano simultaneamente, ma vengono spostate o attivate a rotazione mese dopo mese.</a:t>
            </a:r>
          </a:p>
          <a:p>
            <a:endParaRPr lang="it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57CBF0-1B39-E404-CA2A-7DA39EB0E3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665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36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Monitoraggio della velocità</a:t>
            </a:r>
            <a:endParaRPr lang="it-IT" sz="3600" noProof="1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400" noProof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 Basilea-Città</a:t>
            </a:r>
            <a:endParaRPr lang="it-IT" sz="2400" noProof="1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600" b="1" noProof="1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– Group A</a:t>
            </a:r>
            <a:endParaRPr lang="it-IT" sz="1600" noProof="1"/>
          </a:p>
        </p:txBody>
      </p:sp>
      <p:sp>
        <p:nvSpPr>
          <p:cNvPr id="6" name="Text 4"/>
          <p:cNvSpPr/>
          <p:nvPr/>
        </p:nvSpPr>
        <p:spPr>
          <a:xfrm>
            <a:off x="36576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400" noProof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Pezzolla &amp; Matteo Maruca</a:t>
            </a:r>
            <a:endParaRPr lang="it-IT" sz="1400" noProof="1"/>
          </a:p>
        </p:txBody>
      </p:sp>
      <p:sp>
        <p:nvSpPr>
          <p:cNvPr id="7" name="Text 5"/>
          <p:cNvSpPr/>
          <p:nvPr/>
        </p:nvSpPr>
        <p:spPr>
          <a:xfrm>
            <a:off x="365760" y="2468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00" i="1" noProof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Geschwindigkeitsmonitoring – opendata.swiss</a:t>
            </a:r>
            <a:endParaRPr lang="it-IT" sz="1200" noProof="1"/>
          </a:p>
        </p:txBody>
      </p:sp>
      <p:sp>
        <p:nvSpPr>
          <p:cNvPr id="8" name="Shape 6"/>
          <p:cNvSpPr/>
          <p:nvPr/>
        </p:nvSpPr>
        <p:spPr>
          <a:xfrm>
            <a:off x="36576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800" b="1" noProof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~1.9 GB</a:t>
            </a:r>
            <a:endParaRPr lang="it-IT" sz="2800" noProof="1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 CSV</a:t>
            </a:r>
            <a:endParaRPr lang="it-IT" sz="1200" noProof="1"/>
          </a:p>
        </p:txBody>
      </p:sp>
      <p:sp>
        <p:nvSpPr>
          <p:cNvPr id="11" name="Shape 9"/>
          <p:cNvSpPr/>
          <p:nvPr/>
        </p:nvSpPr>
        <p:spPr>
          <a:xfrm>
            <a:off x="320040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12" name="Text 10"/>
          <p:cNvSpPr/>
          <p:nvPr/>
        </p:nvSpPr>
        <p:spPr>
          <a:xfrm>
            <a:off x="329184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800" b="1" noProof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it-IT" sz="2800" noProof="1"/>
          </a:p>
        </p:txBody>
      </p:sp>
      <p:sp>
        <p:nvSpPr>
          <p:cNvPr id="13" name="Text 11"/>
          <p:cNvSpPr/>
          <p:nvPr/>
        </p:nvSpPr>
        <p:spPr>
          <a:xfrm>
            <a:off x="329184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</a:t>
            </a:r>
            <a:endParaRPr lang="it-IT" sz="1200" noProof="1"/>
          </a:p>
        </p:txBody>
      </p:sp>
      <p:sp>
        <p:nvSpPr>
          <p:cNvPr id="14" name="Shape 12"/>
          <p:cNvSpPr/>
          <p:nvPr/>
        </p:nvSpPr>
        <p:spPr>
          <a:xfrm>
            <a:off x="603504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15" name="Text 13"/>
          <p:cNvSpPr/>
          <p:nvPr/>
        </p:nvSpPr>
        <p:spPr>
          <a:xfrm>
            <a:off x="612648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800" b="1" noProof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~5.5 mln</a:t>
            </a:r>
            <a:endParaRPr lang="it-IT" sz="2800" noProof="1"/>
          </a:p>
        </p:txBody>
      </p:sp>
      <p:sp>
        <p:nvSpPr>
          <p:cNvPr id="16" name="Text 14"/>
          <p:cNvSpPr/>
          <p:nvPr/>
        </p:nvSpPr>
        <p:spPr>
          <a:xfrm>
            <a:off x="612648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endParaRPr lang="it-IT" sz="1200" noProof="1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1FBF2587-6F26-7E5B-8C40-8299E73D94BA}"/>
              </a:ext>
            </a:extLst>
          </p:cNvPr>
          <p:cNvSpPr/>
          <p:nvPr/>
        </p:nvSpPr>
        <p:spPr>
          <a:xfrm>
            <a:off x="6966373" y="2926080"/>
            <a:ext cx="6976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400" noProof="1"/>
              <a:t>🇨🇭📸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noProof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Panoramica del Dataset</a:t>
            </a:r>
            <a:endParaRPr lang="it-IT" sz="2200" noProof="1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438912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5" name="Text 3"/>
          <p:cNvSpPr/>
          <p:nvPr/>
        </p:nvSpPr>
        <p:spPr>
          <a:xfrm>
            <a:off x="457200" y="7955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noProof="1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contiene?</a:t>
            </a:r>
            <a:endParaRPr lang="it-IT" sz="1300" noProof="1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5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Data/ora misurazione</a:t>
            </a:r>
            <a:endParaRPr lang="it-IT" sz="1150" noProof="1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9" name="Text 7"/>
          <p:cNvSpPr/>
          <p:nvPr/>
        </p:nvSpPr>
        <p:spPr>
          <a:xfrm>
            <a:off x="502920" y="1755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5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 Velocità (km/h) per singolo veicolo</a:t>
            </a:r>
            <a:endParaRPr lang="it-IT" sz="1150" noProof="1"/>
          </a:p>
        </p:txBody>
      </p:sp>
      <p:sp>
        <p:nvSpPr>
          <p:cNvPr id="10" name="Shape 8"/>
          <p:cNvSpPr/>
          <p:nvPr/>
        </p:nvSpPr>
        <p:spPr>
          <a:xfrm>
            <a:off x="365760" y="212140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11" name="Text 9"/>
          <p:cNvSpPr/>
          <p:nvPr/>
        </p:nvSpPr>
        <p:spPr>
          <a:xfrm>
            <a:off x="502920" y="21854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5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Coordinate geografiche</a:t>
            </a:r>
            <a:endParaRPr lang="it-IT" sz="1150" noProof="1"/>
          </a:p>
        </p:txBody>
      </p:sp>
      <p:sp>
        <p:nvSpPr>
          <p:cNvPr id="12" name="Shape 10"/>
          <p:cNvSpPr/>
          <p:nvPr/>
        </p:nvSpPr>
        <p:spPr>
          <a:xfrm>
            <a:off x="365760" y="2551176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13" name="Text 11"/>
          <p:cNvSpPr/>
          <p:nvPr/>
        </p:nvSpPr>
        <p:spPr>
          <a:xfrm>
            <a:off x="502920" y="26151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5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🛣️  Zona limite (30/50 km/h), strada e direzione</a:t>
            </a:r>
            <a:endParaRPr lang="it-IT" sz="1150" noProof="1"/>
          </a:p>
        </p:txBody>
      </p:sp>
      <p:sp>
        <p:nvSpPr>
          <p:cNvPr id="14" name="Shape 12"/>
          <p:cNvSpPr/>
          <p:nvPr/>
        </p:nvSpPr>
        <p:spPr>
          <a:xfrm>
            <a:off x="365760" y="2980944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15" name="Text 13"/>
          <p:cNvSpPr/>
          <p:nvPr/>
        </p:nvSpPr>
        <p:spPr>
          <a:xfrm>
            <a:off x="502920" y="3044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5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V50, V85 e tasso di infrazioni per postazione</a:t>
            </a:r>
            <a:endParaRPr lang="it-IT" sz="1150" noProof="1"/>
          </a:p>
        </p:txBody>
      </p:sp>
      <p:sp>
        <p:nvSpPr>
          <p:cNvPr id="16" name="Shape 14"/>
          <p:cNvSpPr/>
          <p:nvPr/>
        </p:nvSpPr>
        <p:spPr>
          <a:xfrm>
            <a:off x="365760" y="341071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17" name="Text 15"/>
          <p:cNvSpPr/>
          <p:nvPr/>
        </p:nvSpPr>
        <p:spPr>
          <a:xfrm>
            <a:off x="502920" y="34747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5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Inizio e fine periodo di misurazione</a:t>
            </a:r>
            <a:endParaRPr lang="it-IT" sz="1150" noProof="1"/>
          </a:p>
        </p:txBody>
      </p:sp>
      <p:sp>
        <p:nvSpPr>
          <p:cNvPr id="18" name="Shape 16"/>
          <p:cNvSpPr/>
          <p:nvPr/>
        </p:nvSpPr>
        <p:spPr>
          <a:xfrm>
            <a:off x="365760" y="384048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19" name="Text 17"/>
          <p:cNvSpPr/>
          <p:nvPr/>
        </p:nvSpPr>
        <p:spPr>
          <a:xfrm>
            <a:off x="502920" y="39044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5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Conteggio veicoli e lunghezza media</a:t>
            </a:r>
            <a:endParaRPr lang="it-IT" sz="1150" noProof="1"/>
          </a:p>
        </p:txBody>
      </p:sp>
      <p:sp>
        <p:nvSpPr>
          <p:cNvPr id="20" name="Shape 18"/>
          <p:cNvSpPr/>
          <p:nvPr/>
        </p:nvSpPr>
        <p:spPr>
          <a:xfrm>
            <a:off x="365760" y="427024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21" name="Text 19"/>
          <p:cNvSpPr/>
          <p:nvPr/>
        </p:nvSpPr>
        <p:spPr>
          <a:xfrm>
            <a:off x="502920" y="43342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5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🆔  ID misuratore con link alle statistiche</a:t>
            </a:r>
            <a:endParaRPr lang="it-IT" sz="1150" noProof="1"/>
          </a:p>
        </p:txBody>
      </p:sp>
      <p:sp>
        <p:nvSpPr>
          <p:cNvPr id="22" name="Shape 20"/>
          <p:cNvSpPr/>
          <p:nvPr/>
        </p:nvSpPr>
        <p:spPr>
          <a:xfrm>
            <a:off x="4937760" y="777240"/>
            <a:ext cx="3931920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23" name="Text 21"/>
          <p:cNvSpPr/>
          <p:nvPr/>
        </p:nvSpPr>
        <p:spPr>
          <a:xfrm>
            <a:off x="5029200" y="7955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 chiave</a:t>
            </a:r>
            <a:endParaRPr lang="it-IT" sz="1300" noProof="1"/>
          </a:p>
        </p:txBody>
      </p:sp>
      <p:sp>
        <p:nvSpPr>
          <p:cNvPr id="24" name="Text 22"/>
          <p:cNvSpPr/>
          <p:nvPr/>
        </p:nvSpPr>
        <p:spPr>
          <a:xfrm>
            <a:off x="4937760" y="1307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400" b="1" noProof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~5.5 mln</a:t>
            </a:r>
            <a:endParaRPr lang="it-IT" sz="2400" noProof="1"/>
          </a:p>
        </p:txBody>
      </p:sp>
      <p:sp>
        <p:nvSpPr>
          <p:cNvPr id="25" name="Text 23"/>
          <p:cNvSpPr/>
          <p:nvPr/>
        </p:nvSpPr>
        <p:spPr>
          <a:xfrm>
            <a:off x="4937760" y="17007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noProof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 singole</a:t>
            </a:r>
            <a:endParaRPr lang="it-IT" sz="1200" noProof="1"/>
          </a:p>
        </p:txBody>
      </p:sp>
      <p:sp>
        <p:nvSpPr>
          <p:cNvPr id="26" name="Text 24"/>
          <p:cNvSpPr/>
          <p:nvPr/>
        </p:nvSpPr>
        <p:spPr>
          <a:xfrm>
            <a:off x="4937760" y="20208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400" b="1" noProof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295</a:t>
            </a:r>
            <a:endParaRPr lang="it-IT" sz="2400" noProof="1"/>
          </a:p>
        </p:txBody>
      </p:sp>
      <p:sp>
        <p:nvSpPr>
          <p:cNvPr id="27" name="Text 25"/>
          <p:cNvSpPr/>
          <p:nvPr/>
        </p:nvSpPr>
        <p:spPr>
          <a:xfrm>
            <a:off x="4937760" y="24140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noProof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 radar</a:t>
            </a:r>
            <a:endParaRPr lang="it-IT" sz="1200" noProof="1"/>
          </a:p>
        </p:txBody>
      </p:sp>
      <p:sp>
        <p:nvSpPr>
          <p:cNvPr id="28" name="Text 26"/>
          <p:cNvSpPr/>
          <p:nvPr/>
        </p:nvSpPr>
        <p:spPr>
          <a:xfrm>
            <a:off x="4937760" y="273405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400" b="1" noProof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 30 / 40 / 50 / 60 / 80</a:t>
            </a:r>
            <a:endParaRPr lang="it-IT" sz="2400" noProof="1"/>
          </a:p>
        </p:txBody>
      </p:sp>
      <p:sp>
        <p:nvSpPr>
          <p:cNvPr id="29" name="Text 27"/>
          <p:cNvSpPr/>
          <p:nvPr/>
        </p:nvSpPr>
        <p:spPr>
          <a:xfrm>
            <a:off x="4937760" y="3127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noProof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limite (km/h)</a:t>
            </a:r>
            <a:endParaRPr lang="it-IT" sz="1200" noProof="1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1BE88253-9CF9-F35F-5A33-F262EFB275B0}"/>
              </a:ext>
            </a:extLst>
          </p:cNvPr>
          <p:cNvSpPr/>
          <p:nvPr/>
        </p:nvSpPr>
        <p:spPr>
          <a:xfrm>
            <a:off x="4846320" y="344728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400" b="1" noProof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it-IT" sz="2400" noProof="1"/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74C3B044-AB82-6331-7271-2BA41A980AD7}"/>
              </a:ext>
            </a:extLst>
          </p:cNvPr>
          <p:cNvSpPr/>
          <p:nvPr/>
        </p:nvSpPr>
        <p:spPr>
          <a:xfrm>
            <a:off x="4846320" y="38404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noProof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Anni di misurazioni (dal 2024)</a:t>
            </a:r>
            <a:endParaRPr lang="it-IT" sz="12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noProof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Postazioni per Tasso di Infrazioni (precedente)</a:t>
            </a:r>
            <a:endParaRPr lang="it-IT" sz="2200" noProof="1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i="1" noProof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Postazioni con la maggior percentaule di infrazioni</a:t>
            </a:r>
            <a:endParaRPr lang="it-IT" sz="1300" noProof="1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noProof="1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it-IT" sz="1400" noProof="1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61E0DCA6-117F-5A7A-4D42-2E2248DF1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39"/>
            <a:ext cx="8494604" cy="3611879"/>
          </a:xfrm>
          <a:prstGeom prst="rect">
            <a:avLst/>
          </a:prstGeom>
        </p:spPr>
      </p:pic>
      <p:sp>
        <p:nvSpPr>
          <p:cNvPr id="8" name="Grafico ad anello 7">
            <a:extLst>
              <a:ext uri="{FF2B5EF4-FFF2-40B4-BE49-F238E27FC236}">
                <a16:creationId xmlns:a16="http://schemas.microsoft.com/office/drawing/2014/main" id="{33BAC926-7553-069E-BFFA-9AC4FE26396B}"/>
              </a:ext>
            </a:extLst>
          </p:cNvPr>
          <p:cNvSpPr/>
          <p:nvPr/>
        </p:nvSpPr>
        <p:spPr>
          <a:xfrm>
            <a:off x="7780149" y="4130300"/>
            <a:ext cx="294468" cy="286718"/>
          </a:xfrm>
          <a:prstGeom prst="donut">
            <a:avLst>
              <a:gd name="adj" fmla="val 4960"/>
            </a:avLst>
          </a:prstGeom>
          <a:solidFill>
            <a:srgbClr val="FF0000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12430E-19A5-041B-EC17-09C277D7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1483590-706B-6EE0-BB8B-C9434F8992CC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4516782-5203-A9FF-FBC3-5BD83BE7E656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noProof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Postazioni per Tasso di Infrazioni (aggiornato)</a:t>
            </a:r>
            <a:endParaRPr lang="it-IT" sz="2200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FE0DACD-0CBD-BF35-5EB5-FBA4F26A33AE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i="1" noProof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Postazioni con la maggior percentaule di infrazioni (percentuale calcolata manualmente).</a:t>
            </a:r>
            <a:endParaRPr lang="it-IT" sz="1300" noProof="1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D171DA1-8464-6271-D6E1-B9A146D97557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3888637-9B78-8EEB-70A3-742A0359F80B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noProof="1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it-IT" sz="1400" noProof="1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2EB6B3-75C2-F253-BC7F-76BCD4A39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1"/>
            <a:ext cx="8503920" cy="3611879"/>
          </a:xfrm>
          <a:prstGeom prst="rect">
            <a:avLst/>
          </a:prstGeom>
        </p:spPr>
      </p:pic>
      <p:sp>
        <p:nvSpPr>
          <p:cNvPr id="17" name="Grafico ad anello 16">
            <a:extLst>
              <a:ext uri="{FF2B5EF4-FFF2-40B4-BE49-F238E27FC236}">
                <a16:creationId xmlns:a16="http://schemas.microsoft.com/office/drawing/2014/main" id="{65E660BF-947E-5E1F-8EA0-5BDB2FC41A05}"/>
              </a:ext>
            </a:extLst>
          </p:cNvPr>
          <p:cNvSpPr/>
          <p:nvPr/>
        </p:nvSpPr>
        <p:spPr>
          <a:xfrm>
            <a:off x="7470182" y="4107052"/>
            <a:ext cx="294468" cy="286718"/>
          </a:xfrm>
          <a:prstGeom prst="donut">
            <a:avLst>
              <a:gd name="adj" fmla="val 4960"/>
            </a:avLst>
          </a:prstGeom>
          <a:solidFill>
            <a:srgbClr val="FF0000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>
              <a:solidFill>
                <a:schemeClr val="tx1"/>
              </a:solidFill>
            </a:endParaRPr>
          </a:p>
        </p:txBody>
      </p:sp>
      <p:sp>
        <p:nvSpPr>
          <p:cNvPr id="18" name="Grafico ad anello 17">
            <a:extLst>
              <a:ext uri="{FF2B5EF4-FFF2-40B4-BE49-F238E27FC236}">
                <a16:creationId xmlns:a16="http://schemas.microsoft.com/office/drawing/2014/main" id="{BF7E5772-5F3D-56C2-91D2-008E74463E88}"/>
              </a:ext>
            </a:extLst>
          </p:cNvPr>
          <p:cNvSpPr/>
          <p:nvPr/>
        </p:nvSpPr>
        <p:spPr>
          <a:xfrm>
            <a:off x="5982345" y="4107052"/>
            <a:ext cx="294468" cy="286718"/>
          </a:xfrm>
          <a:prstGeom prst="donut">
            <a:avLst>
              <a:gd name="adj" fmla="val 4960"/>
            </a:avLst>
          </a:prstGeom>
          <a:solidFill>
            <a:schemeClr val="accent2">
              <a:lumMod val="75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7436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8FB33A-EE34-6999-024D-89AB075BC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92C946-8ABA-BBCE-2F25-C2C0CDAFE0BB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3BD819E-CEF1-45C3-185E-C84560531D61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noProof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 velocità – postazione peggiore</a:t>
            </a:r>
            <a:endParaRPr lang="it-IT" sz="2200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61D53FC-7098-BF3D-7C2A-F824479AFB9B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300" i="1" noProof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Distribuzione velocità della postazione  con la maggior percentaule di infrazioni</a:t>
            </a:r>
            <a:endParaRPr lang="it-IT" sz="1300" noProof="1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E3BBB00-9779-1D75-EE40-4CC1BAA35CBA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28B9060-3AB3-54D2-0404-20DEF6B69941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noProof="1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it-IT" sz="1400" noProof="1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148C6FC9-9D66-2839-29B4-C91903E9F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1" y="1190369"/>
            <a:ext cx="8503919" cy="3700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096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noProof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Misurazione veicoli / giorno</a:t>
            </a:r>
            <a:endParaRPr lang="it-IT" sz="2200" noProof="1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i="1" noProof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media misurazioni per giorno × ora</a:t>
            </a:r>
            <a:endParaRPr lang="it-IT" sz="1300" noProof="1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noProof="1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it-IT" sz="1400" noProof="1"/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24C6FEB0-4051-3D7A-1A2A-AA3F6AA27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0"/>
            <a:ext cx="8507986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BFC21C-AF0D-F181-5836-1EF3ADB2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A906A4-FE5D-7EE2-6891-35EED0B6A028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5D5513F-9F73-2F50-7B34-57BCFC8B28A3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noProof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di Calore – Tasso infrazioni medio per orario</a:t>
            </a:r>
            <a:endParaRPr lang="it-IT" sz="2200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9FFE15C-9BE4-5606-C073-E1FC119A8A17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i="1" noProof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tasso infrazioni per giorno × ora</a:t>
            </a:r>
            <a:endParaRPr lang="it-IT" sz="1300" noProof="1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11F0A79-257D-DF77-51D8-8C3E08EC98E8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742B34F-B5D8-43D1-F6E8-C729E5252DEE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noProof="1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it-IT" sz="1400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14FB3EC-C4D5-9844-32EA-A63184D123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39"/>
            <a:ext cx="8502163" cy="361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29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0129B8-E4DE-6B76-0BC9-A2432BB41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E77AE3-2F8A-0CC3-E76B-C9D29CE0A3BC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B52C3B0-B814-C8CA-B170-63256395B692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noProof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Infrazioni/Anno con categoria veicolo</a:t>
            </a:r>
            <a:endParaRPr lang="it-IT" sz="2200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C4DBECF-076C-8656-D72F-77C3B08900DA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i="1" noProof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SubPlot – media annua infrazioni veicoli</a:t>
            </a:r>
            <a:endParaRPr lang="it-IT" sz="1300" noProof="1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B0BA3C2-F945-E20F-0EED-21B8FA22FDB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B822438-0145-720B-1E64-8C38E17D03DC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noProof="1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it-IT" sz="1400" noProof="1"/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6F9F199B-2953-EA32-C63D-DDFB19C0D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0"/>
            <a:ext cx="8503920" cy="363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992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AD0811-9B76-6461-72D6-0A64719AA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2E3DE4-9B52-3F53-3BF3-80409D8854C7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B574B7-360B-C793-7D24-8BE21679B7C5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noProof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Correlazione tra volume di traffico e numero di infrazioni</a:t>
            </a:r>
            <a:endParaRPr lang="it-IT" sz="2200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B5492D-C2BC-FDC5-D315-D8902F6A9B4B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i="1" noProof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Correlazione tra volume di traffico e numero di infrazioni per radar. </a:t>
            </a:r>
            <a:endParaRPr lang="it-IT" sz="1300" noProof="1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1D3A275-7534-566A-FDC8-363D5D194CE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35290F-1AE9-F892-FC83-52447EB4007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noProof="1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it-IT" sz="1400" noProof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4D61E9-49C7-C2FD-C1CA-624186EDD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" y="1216152"/>
            <a:ext cx="8502163" cy="363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5134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06EA51-CEF3-8ED3-F6A0-B9D54F59B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194611C-2273-82A5-A47B-44E1B051687B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4A461C5-B436-3317-2106-883FB6EB6E5C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noProof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Mappa di attività dei radar</a:t>
            </a:r>
            <a:endParaRPr lang="it-IT" sz="2200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DACDB80-1B5C-D3B8-9860-4ABC90EAB621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i="1" noProof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Heatmap dell’attività di ogni singolo radar (quadrato colorato almeno 1 registrazione).</a:t>
            </a:r>
            <a:endParaRPr lang="it-IT" sz="1300" noProof="1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80E89E6-CA73-64A6-5BBE-7FA5E19197B0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D9EBFD4-24EA-CD25-F104-01DC8159C7C7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noProof="1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it-IT" sz="1400" noProof="1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350021-0216-C876-4C72-41DF1704F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" y="1239158"/>
            <a:ext cx="8507399" cy="360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26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noProof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it-IT" sz="2200" noProof="1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IT" noProof="1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it-IT" sz="1400" noProof="1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6A5EC037-901C-9B09-8D52-3D7B268D9A64}"/>
              </a:ext>
            </a:extLst>
          </p:cNvPr>
          <p:cNvSpPr/>
          <p:nvPr/>
        </p:nvSpPr>
        <p:spPr>
          <a:xfrm>
            <a:off x="526724" y="1234440"/>
            <a:ext cx="8181991" cy="3673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400" i="1" noProof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Dati: Informazioni reali e locali sul traffico svizzero.</a:t>
            </a:r>
          </a:p>
          <a:p>
            <a:r>
              <a:rPr lang="it-IT" sz="2400" i="1" noProof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L'Obiettivo: Promuovere la sicurezza stradale urbana.</a:t>
            </a:r>
          </a:p>
          <a:p>
            <a:endParaRPr lang="it-IT" sz="2400" i="1" noProof="1">
              <a:solidFill>
                <a:srgbClr val="B0BEC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1660</TotalTime>
  <Words>698</Words>
  <Application>Microsoft Macintosh PowerPoint</Application>
  <PresentationFormat>Presentazione su schermo (16:9)</PresentationFormat>
  <Paragraphs>109</Paragraphs>
  <Slides>11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Geschwindigkeitsmonitoring Basel-Stadt</dc:title>
  <dc:subject>PptxGenJS Presentation</dc:subject>
  <dc:creator>PptxGenJS</dc:creator>
  <cp:lastModifiedBy>Pezzolla Andrea</cp:lastModifiedBy>
  <cp:revision>22</cp:revision>
  <dcterms:created xsi:type="dcterms:W3CDTF">2026-05-03T13:02:29Z</dcterms:created>
  <dcterms:modified xsi:type="dcterms:W3CDTF">2026-05-28T06:46:27Z</dcterms:modified>
</cp:coreProperties>
</file>