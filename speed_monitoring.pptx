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0" r:id="rId4"/>
    <p:sldId id="265" r:id="rId5"/>
    <p:sldId id="261" r:id="rId6"/>
    <p:sldId id="268" r:id="rId7"/>
    <p:sldId id="266" r:id="rId8"/>
    <p:sldId id="267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27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1"/>
    <p:restoredTop sz="77756"/>
  </p:normalViewPr>
  <p:slideViewPr>
    <p:cSldViewPr snapToGrid="0" snapToObjects="1">
      <p:cViewPr varScale="1">
        <p:scale>
          <a:sx n="138" d="100"/>
          <a:sy n="138" d="100"/>
        </p:scale>
        <p:origin x="121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8171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BD150-2D4D-C884-ADAA-19DD8CD29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86D27-F27E-EB8A-1EEF-8AB848B86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DC0AC-5344-9D26-B1EF-1BB178AFA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grafico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dimostra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un'inosservanza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sistematica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massa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velocità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presso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postazione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"A2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Einfahrt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Wolf".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"campana" della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distribuzione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è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nettamente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spostata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destra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rispetto alla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rossa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(40 km/h): 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stragrande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maggioranza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veicoli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viaggia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45 e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55 km/h.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quel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tratto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l'eccesso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velocità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è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un'eccezione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isolata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 il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comportamento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standard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guida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C15D2-A614-6FBD-F1A5-BE1E5BA40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886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Sembra</a:t>
            </a:r>
            <a:r>
              <a:rPr lang="en-US" dirty="0"/>
              <a:t> </a:t>
            </a:r>
            <a:r>
              <a:rPr lang="en-US" dirty="0" err="1"/>
              <a:t>strano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c'è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alle 15 rispetto alle 17</a:t>
            </a:r>
          </a:p>
          <a:p>
            <a:r>
              <a:rPr lang="en-US" dirty="0" err="1"/>
              <a:t>Semplicemente</a:t>
            </a:r>
            <a:r>
              <a:rPr lang="en-US" dirty="0"/>
              <a:t> </a:t>
            </a:r>
            <a:r>
              <a:rPr lang="en-US" dirty="0" err="1"/>
              <a:t>perché</a:t>
            </a:r>
            <a:r>
              <a:rPr lang="en-US" dirty="0"/>
              <a:t>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controlli</a:t>
            </a:r>
            <a:r>
              <a:rPr lang="en-US" dirty="0"/>
              <a:t> in </a:t>
            </a:r>
            <a:r>
              <a:rPr lang="en-US" dirty="0" err="1"/>
              <a:t>strade</a:t>
            </a:r>
            <a:r>
              <a:rPr lang="en-US" dirty="0"/>
              <a:t> </a:t>
            </a:r>
            <a:r>
              <a:rPr lang="en-US" dirty="0" err="1"/>
              <a:t>cantonali</a:t>
            </a:r>
            <a:r>
              <a:rPr lang="en-US" dirty="0"/>
              <a:t> </a:t>
            </a:r>
            <a:r>
              <a:rPr lang="en-US" dirty="0" err="1"/>
              <a:t>ecc</a:t>
            </a:r>
            <a:r>
              <a:rPr lang="en-US" dirty="0"/>
              <a:t>. e non solo in </a:t>
            </a:r>
            <a:r>
              <a:rPr lang="en-US" dirty="0" err="1"/>
              <a:t>stradine</a:t>
            </a:r>
            <a:r>
              <a:rPr lang="en-US" dirty="0"/>
              <a:t> lente (30kmh)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224B3-B249-ED0F-410A-454744899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A73309-C954-63AF-9CBA-0790C8A637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F9AC9-2692-24BB-B0D3-D94C16C63A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03DD7-E9F2-5219-3BCB-17928D2053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1347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7EDB8-D8B2-21EF-B2E5-6E13FE4F8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3E48EE-0327-3A8C-6374-B348CFF241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9F664E-0D3D-D4EB-FB67-6930C1305C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CH" b="1" dirty="0"/>
              <a:t>Domanda di ricerca:</a:t>
            </a:r>
            <a:r>
              <a:rPr lang="it-CH" dirty="0"/>
              <a:t> Un maggior volume di traffico comporta un tasso più alto di infrazioni?</a:t>
            </a:r>
          </a:p>
          <a:p>
            <a:r>
              <a:rPr lang="it-CH" b="1" dirty="0"/>
              <a:t>Visualizzazione:</a:t>
            </a:r>
            <a:endParaRPr lang="it-CH" dirty="0"/>
          </a:p>
          <a:p>
            <a:pPr lvl="1"/>
            <a:r>
              <a:rPr lang="it-CH" b="1" dirty="0"/>
              <a:t>Dimensione:</a:t>
            </a:r>
            <a:r>
              <a:rPr lang="it-CH" dirty="0"/>
              <a:t> Volume di traffico medio.</a:t>
            </a:r>
          </a:p>
          <a:p>
            <a:pPr lvl="1"/>
            <a:r>
              <a:rPr lang="it-CH" b="1" dirty="0"/>
              <a:t>Colore:</a:t>
            </a:r>
            <a:r>
              <a:rPr lang="it-CH" dirty="0"/>
              <a:t> Tasso di infrazione (%).</a:t>
            </a:r>
          </a:p>
          <a:p>
            <a:r>
              <a:rPr lang="it-CH" b="1" dirty="0"/>
              <a:t>Data Processing:</a:t>
            </a:r>
            <a:r>
              <a:rPr lang="it-CH" dirty="0"/>
              <a:t> * Creazione di una colonna booleana per identificare i superamenti del limite.</a:t>
            </a:r>
          </a:p>
          <a:p>
            <a:pPr lvl="1"/>
            <a:r>
              <a:rPr lang="it-CH" dirty="0"/>
              <a:t>Aggregazione dei dati per postazione (latitudine/longitudine) per calcolare transiti totali e infrazioni effettive.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F037F-63CE-9D8A-2A3C-1845F75352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7236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D2650-687A-E116-F95D-9AB39CA7A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61350F-1402-F534-F99A-D9ECB1AF25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3C8614-09D2-202E-92BF-E6425A386D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Mostra</a:t>
            </a:r>
            <a:r>
              <a:rPr lang="en-US" dirty="0"/>
              <a:t> le </a:t>
            </a:r>
            <a:r>
              <a:rPr lang="en-US" dirty="0" err="1"/>
              <a:t>infrazioni</a:t>
            </a:r>
            <a:r>
              <a:rPr lang="en-US" dirty="0"/>
              <a:t> </a:t>
            </a:r>
            <a:r>
              <a:rPr lang="en-US" dirty="0" err="1"/>
              <a:t>peggiori</a:t>
            </a:r>
            <a:r>
              <a:rPr lang="en-US" dirty="0"/>
              <a:t> </a:t>
            </a:r>
            <a:r>
              <a:rPr lang="en-US" dirty="0" err="1"/>
              <a:t>registrate</a:t>
            </a:r>
            <a:r>
              <a:rPr lang="en-US" dirty="0"/>
              <a:t> da ogni radar </a:t>
            </a:r>
            <a:r>
              <a:rPr lang="en-US" dirty="0" err="1"/>
              <a:t>nelle</a:t>
            </a:r>
            <a:r>
              <a:rPr lang="en-US" dirty="0"/>
              <a:t> ore </a:t>
            </a:r>
            <a:r>
              <a:rPr lang="en-US" dirty="0" err="1"/>
              <a:t>notturne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le 22 e le 5, </a:t>
            </a:r>
            <a:r>
              <a:rPr lang="en-US" dirty="0" err="1"/>
              <a:t>possiamo</a:t>
            </a:r>
            <a:r>
              <a:rPr lang="en-US" dirty="0"/>
              <a:t> </a:t>
            </a:r>
            <a:r>
              <a:rPr lang="en-US" dirty="0" err="1"/>
              <a:t>notare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superamenti</a:t>
            </a:r>
            <a:r>
              <a:rPr lang="en-US" dirty="0"/>
              <a:t> </a:t>
            </a:r>
            <a:r>
              <a:rPr lang="en-US" dirty="0" err="1"/>
              <a:t>fino</a:t>
            </a:r>
            <a:r>
              <a:rPr lang="en-US" dirty="0"/>
              <a:t> a 90kmh </a:t>
            </a:r>
            <a:r>
              <a:rPr lang="en-US" dirty="0" err="1"/>
              <a:t>superiori</a:t>
            </a:r>
            <a:r>
              <a:rPr lang="en-US" dirty="0"/>
              <a:t> al </a:t>
            </a:r>
            <a:r>
              <a:rPr lang="en-US" dirty="0" err="1"/>
              <a:t>limite</a:t>
            </a:r>
            <a:endParaRPr lang="en-US" dirty="0"/>
          </a:p>
          <a:p>
            <a:r>
              <a:rPr lang="en-US" dirty="0"/>
              <a:t>Size: zona </a:t>
            </a:r>
            <a:r>
              <a:rPr lang="en-US" dirty="0" err="1"/>
              <a:t>limite</a:t>
            </a:r>
            <a:r>
              <a:rPr lang="en-US" dirty="0"/>
              <a:t> (50, 60, 80)</a:t>
            </a:r>
          </a:p>
          <a:p>
            <a:r>
              <a:rPr lang="en-US" dirty="0" err="1"/>
              <a:t>Colore</a:t>
            </a:r>
            <a:r>
              <a:rPr lang="en-US" dirty="0"/>
              <a:t>: </a:t>
            </a:r>
            <a:r>
              <a:rPr lang="en-US" dirty="0" err="1"/>
              <a:t>superamento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Cambiamenti</a:t>
            </a:r>
            <a:r>
              <a:rPr lang="en-US" dirty="0"/>
              <a:t>:</a:t>
            </a:r>
          </a:p>
          <a:p>
            <a:r>
              <a:rPr lang="en-US" dirty="0"/>
              <a:t>Nuovo </a:t>
            </a:r>
            <a:r>
              <a:rPr lang="en-US" dirty="0" err="1"/>
              <a:t>grafico</a:t>
            </a:r>
            <a:r>
              <a:rPr lang="en-US" dirty="0"/>
              <a:t> da fare heatmap:</a:t>
            </a:r>
          </a:p>
          <a:p>
            <a:r>
              <a:rPr lang="en-US" dirty="0"/>
              <a:t>asse x: tempo (anni dal 2024) e poi per ogni anno </a:t>
            </a:r>
            <a:r>
              <a:rPr lang="en-US" dirty="0" err="1"/>
              <a:t>mettiamo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mesi</a:t>
            </a:r>
            <a:endParaRPr lang="en-US" dirty="0"/>
          </a:p>
          <a:p>
            <a:r>
              <a:rPr lang="en-US" dirty="0"/>
              <a:t>asse y: ogni radar</a:t>
            </a:r>
          </a:p>
          <a:p>
            <a:endParaRPr lang="en-US" dirty="0"/>
          </a:p>
          <a:p>
            <a:r>
              <a:rPr lang="en-US" dirty="0"/>
              <a:t>la heatmap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rappresentare</a:t>
            </a:r>
            <a:r>
              <a:rPr lang="en-US" dirty="0"/>
              <a:t> il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automobili</a:t>
            </a:r>
            <a:r>
              <a:rPr lang="en-US" dirty="0"/>
              <a:t> (o se ne </a:t>
            </a:r>
            <a:r>
              <a:rPr lang="en-US" dirty="0" err="1"/>
              <a:t>è</a:t>
            </a:r>
            <a:r>
              <a:rPr lang="en-US" dirty="0"/>
              <a:t> passata </a:t>
            </a:r>
            <a:r>
              <a:rPr lang="en-US" dirty="0" err="1"/>
              <a:t>almeno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e 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avro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quadrati</a:t>
            </a:r>
            <a:r>
              <a:rPr lang="en-US" dirty="0"/>
              <a:t> o </a:t>
            </a:r>
            <a:r>
              <a:rPr lang="en-US" dirty="0" err="1"/>
              <a:t>bianchi</a:t>
            </a:r>
            <a:r>
              <a:rPr lang="en-US" dirty="0"/>
              <a:t> o </a:t>
            </a:r>
            <a:r>
              <a:rPr lang="en-US" dirty="0" err="1"/>
              <a:t>neri</a:t>
            </a:r>
            <a:r>
              <a:rPr lang="en-US" dirty="0"/>
              <a:t> per </a:t>
            </a:r>
            <a:r>
              <a:rPr lang="en-US" dirty="0" err="1"/>
              <a:t>verificare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sempre </a:t>
            </a:r>
            <a:r>
              <a:rPr lang="en-US" dirty="0" err="1"/>
              <a:t>accesi</a:t>
            </a:r>
            <a:r>
              <a:rPr lang="en-US" dirty="0"/>
              <a:t> I radar)</a:t>
            </a:r>
          </a:p>
          <a:p>
            <a:endParaRPr lang="en-US" dirty="0"/>
          </a:p>
          <a:p>
            <a:r>
              <a:rPr lang="en-US" dirty="0" err="1"/>
              <a:t>raggruppamento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chiama</a:t>
            </a:r>
            <a:r>
              <a:rPr lang="en-US" dirty="0"/>
              <a:t> resampling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4422-AAE3-4EF5-30BA-4620748D5C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976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Guardare</a:t>
            </a:r>
            <a:r>
              <a:rPr lang="en-US" dirty="0"/>
              <a:t> heatmap: </a:t>
            </a:r>
            <a:r>
              <a:rPr lang="en-US" dirty="0" err="1"/>
              <a:t>strano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c'è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alle 15 rispetto alle 17</a:t>
            </a:r>
            <a:br>
              <a:rPr lang="en-US" dirty="0"/>
            </a:br>
            <a:br>
              <a:rPr lang="en-US" dirty="0"/>
            </a:br>
            <a:r>
              <a:rPr lang="en-US" dirty="0"/>
              <a:t>Esempio Di notte non </a:t>
            </a:r>
            <a:r>
              <a:rPr lang="en-US" dirty="0" err="1"/>
              <a:t>c'è</a:t>
            </a:r>
            <a:r>
              <a:rPr lang="en-US" dirty="0"/>
              <a:t> il radar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stradina</a:t>
            </a:r>
            <a:r>
              <a:rPr lang="en-US" dirty="0"/>
              <a:t> di </a:t>
            </a:r>
            <a:r>
              <a:rPr lang="en-US" dirty="0" err="1"/>
              <a:t>paese</a:t>
            </a:r>
            <a:r>
              <a:rPr lang="en-US" dirty="0"/>
              <a:t> ma </a:t>
            </a:r>
            <a:r>
              <a:rPr lang="en-US" dirty="0" err="1"/>
              <a:t>nelle</a:t>
            </a:r>
            <a:r>
              <a:rPr lang="en-US" dirty="0"/>
              <a:t> </a:t>
            </a:r>
            <a:r>
              <a:rPr lang="en-US" dirty="0" err="1"/>
              <a:t>strade</a:t>
            </a:r>
            <a:r>
              <a:rPr lang="en-US" dirty="0"/>
              <a:t> </a:t>
            </a:r>
            <a:r>
              <a:rPr lang="en-US" dirty="0" err="1"/>
              <a:t>veloci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Vedi se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vero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Monitoraggio</a:t>
            </a: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della </a:t>
            </a:r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 Basilea-Città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– Group 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Pezzolla &amp; Matteo Maruca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468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</a:t>
            </a:r>
            <a:r>
              <a:rPr lang="en-US" sz="12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Geschwindigkeitsmonitoring</a:t>
            </a: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2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opendata.swiss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~1.9 GB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 CSV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2" name="Text 10"/>
          <p:cNvSpPr/>
          <p:nvPr/>
        </p:nvSpPr>
        <p:spPr>
          <a:xfrm>
            <a:off x="329184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612648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~5.5 </a:t>
            </a:r>
            <a:r>
              <a:rPr lang="en-US" sz="28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mln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12648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endParaRPr lang="en-US" sz="1200" dirty="0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1FBF2587-6F26-7E5B-8C40-8299E73D94BA}"/>
              </a:ext>
            </a:extLst>
          </p:cNvPr>
          <p:cNvSpPr/>
          <p:nvPr/>
        </p:nvSpPr>
        <p:spPr>
          <a:xfrm>
            <a:off x="6966373" y="2926080"/>
            <a:ext cx="6976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/>
              <a:t>🇨🇭📸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Panoramica del Dataset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438912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457200" y="7955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contiene?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Data/ora misurazione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502920" y="1755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 Velocità (km/h) per singolo veicolo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12140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502920" y="21854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Coordinate </a:t>
            </a:r>
            <a:r>
              <a:rPr lang="en-US" sz="11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geografiche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2551176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3" name="Text 11"/>
          <p:cNvSpPr/>
          <p:nvPr/>
        </p:nvSpPr>
        <p:spPr>
          <a:xfrm>
            <a:off x="502920" y="26151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🛣️  Zona limite (30/50 km/h), strada e direzione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80944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502920" y="3044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V50, V85 e tasso di infrazioni per postazione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" y="341071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7" name="Text 15"/>
          <p:cNvSpPr/>
          <p:nvPr/>
        </p:nvSpPr>
        <p:spPr>
          <a:xfrm>
            <a:off x="502920" y="34747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Inizio e fine periodo di misurazione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84048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9" name="Text 17"/>
          <p:cNvSpPr/>
          <p:nvPr/>
        </p:nvSpPr>
        <p:spPr>
          <a:xfrm>
            <a:off x="502920" y="39044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Conteggio veicoli e lunghezza media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27024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502920" y="43342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🆔  ID misuratore con link alle statistiche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937760" y="777240"/>
            <a:ext cx="3931920" cy="34747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3" name="Text 21"/>
          <p:cNvSpPr/>
          <p:nvPr/>
        </p:nvSpPr>
        <p:spPr>
          <a:xfrm>
            <a:off x="5029200" y="7955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 chiave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1307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~5.5 </a:t>
            </a:r>
            <a:r>
              <a:rPr lang="en-US" sz="24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mln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937760" y="17007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 singole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20208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295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937760" y="24140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radar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273405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 30 / 40 / 50 / 60 / 80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937760" y="3127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limite (km/h)</a:t>
            </a:r>
            <a:endParaRPr lang="en-US" sz="12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1BE88253-9CF9-F35F-5A33-F262EFB275B0}"/>
              </a:ext>
            </a:extLst>
          </p:cNvPr>
          <p:cNvSpPr/>
          <p:nvPr/>
        </p:nvSpPr>
        <p:spPr>
          <a:xfrm>
            <a:off x="4846320" y="344728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74C3B044-AB82-6331-7271-2BA41A980AD7}"/>
              </a:ext>
            </a:extLst>
          </p:cNvPr>
          <p:cNvSpPr/>
          <p:nvPr/>
        </p:nvSpPr>
        <p:spPr>
          <a:xfrm>
            <a:off x="4846320" y="38404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Anni di </a:t>
            </a:r>
            <a:r>
              <a:rPr lang="en-US" sz="1200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(dal 2024)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15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Tasso di Infrazioni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con 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maggior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percentaule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61E0DCA6-117F-5A7A-4D42-2E2248DF1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39"/>
            <a:ext cx="8494604" cy="36118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8FB33A-EE34-6999-024D-89AB075BC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92C946-8ABA-BBCE-2F25-C2C0CDAFE0BB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3BD819E-CEF1-45C3-185E-C84560531D61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peggiore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61D53FC-7098-BF3D-7C2A-F824479AFB9B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Distribuzione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velocità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della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 con 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maggior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percentaule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E3BBB00-9779-1D75-EE40-4CC1BAA35CBA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28B9060-3AB3-54D2-0404-20DEF6B69941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148C6FC9-9D66-2839-29B4-C91903E9F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1" y="1190369"/>
            <a:ext cx="8503919" cy="3700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096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di Calore –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media per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orario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velocita_kmh media per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ora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8F8FBDB0-6A36-CB34-BBFE-D20411E9C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" y="1234440"/>
            <a:ext cx="8494607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BFC21C-AF0D-F181-5836-1EF3ADB2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A906A4-FE5D-7EE2-6891-35EED0B6A028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5D5513F-9F73-2F50-7B34-57BCFC8B28A3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di Calore – Tasso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medio per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orario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9FFE15C-9BE4-5606-C073-E1FC119A8A17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tasso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ora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11F0A79-257D-DF77-51D8-8C3E08EC98E8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742B34F-B5D8-43D1-F6E8-C729E5252DEE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5762F2DA-EE19-5F78-49A8-DA3EFAB020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40"/>
            <a:ext cx="8538994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29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AD0811-9B76-6461-72D6-0A64719AA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2E3DE4-9B52-3F53-3BF3-80409D8854C7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B574B7-360B-C793-7D24-8BE21679B7C5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Correlazione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tra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volume di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traffico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e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numero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B5492D-C2BC-FDC5-D315-D8902F6A9B4B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Correlazione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tra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volume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traffico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e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numero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per radar. 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1D3A275-7534-566A-FDC8-363D5D194CE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35290F-1AE9-F892-FC83-52447EB4007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53C93D34-601C-CDD8-C82D-950B1F847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40"/>
            <a:ext cx="8538994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513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25298-A55A-1FED-C86C-F9056C36F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93EA1D5-1D1A-94A8-2CF6-EB2ADEFCD302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C0276C-26E0-D041-AC9F-5E445CA19F67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Pirati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della notte,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infrazioni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su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strade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ad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alta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velocità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DFAD001-EFCE-2644-2C87-7944626ABECD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su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strade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ad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alta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velocità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(50, 60, 80)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kmh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,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nelle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ore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notturne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(22:00-5:00)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89CCD95-2381-C8D3-273C-50604454E15D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79485CC-06E1-5572-ADB3-C07D24B4E4C5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EF832D-21E9-06C7-505D-F6A93D1E4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43037"/>
            <a:ext cx="8504962" cy="3194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597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Future Pianificate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38830"/>
            <a:ext cx="8503920" cy="400749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7688" y="958740"/>
            <a:ext cx="8181991" cy="3673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Correlazione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veicolo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(moto/camion)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radar Giorno-notte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Consigli?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6A5EC037-901C-9B09-8D52-3D7B268D9A64}"/>
              </a:ext>
            </a:extLst>
          </p:cNvPr>
          <p:cNvSpPr/>
          <p:nvPr/>
        </p:nvSpPr>
        <p:spPr>
          <a:xfrm>
            <a:off x="526724" y="1234440"/>
            <a:ext cx="8181991" cy="3673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Informazioni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svizzero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L'Obiettivo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Promuovere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sicurezza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stradale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endParaRPr lang="en-US" sz="2400" i="1" dirty="0">
              <a:solidFill>
                <a:srgbClr val="B0BEC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707</TotalTime>
  <Words>649</Words>
  <Application>Microsoft Macintosh PowerPoint</Application>
  <PresentationFormat>Presentazione su schermo (16:9)</PresentationFormat>
  <Paragraphs>90</Paragraphs>
  <Slides>10</Slides>
  <Notes>10</Notes>
  <HiddenSlides>1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Geschwindigkeitsmonitoring Basel-Stadt</dc:title>
  <dc:subject>PptxGenJS Presentation</dc:subject>
  <dc:creator>PptxGenJS</dc:creator>
  <cp:lastModifiedBy>Pezzolla Andrea</cp:lastModifiedBy>
  <cp:revision>14</cp:revision>
  <dcterms:created xsi:type="dcterms:W3CDTF">2026-05-03T13:02:29Z</dcterms:created>
  <dcterms:modified xsi:type="dcterms:W3CDTF">2026-05-26T10:37:17Z</dcterms:modified>
</cp:coreProperties>
</file>