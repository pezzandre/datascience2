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60" r:id="rId5"/>
    <p:sldId id="261" r:id="rId6"/>
    <p:sldId id="263" r:id="rId7"/>
    <p:sldId id="264" r:id="rId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292"/>
    <p:restoredTop sz="85473"/>
  </p:normalViewPr>
  <p:slideViewPr>
    <p:cSldViewPr snapToGrid="0" snapToObjects="1">
      <p:cViewPr varScale="1">
        <p:scale>
          <a:sx n="152" d="100"/>
          <a:sy n="152" d="100"/>
        </p:scale>
        <p:origin x="1048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381719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zoom </a:t>
            </a:r>
            <a:r>
              <a:rPr lang="en-US" dirty="0" err="1"/>
              <a:t>sul</a:t>
            </a:r>
            <a:r>
              <a:rPr lang="en-US" dirty="0"/>
              <a:t> primo e </a:t>
            </a:r>
            <a:r>
              <a:rPr lang="en-US" dirty="0" err="1"/>
              <a:t>mostraer</a:t>
            </a:r>
            <a:r>
              <a:rPr lang="en-US" dirty="0"/>
              <a:t> </a:t>
            </a:r>
            <a:r>
              <a:rPr lang="en-US" dirty="0" err="1"/>
              <a:t>una</a:t>
            </a:r>
            <a:r>
              <a:rPr lang="en-US" dirty="0"/>
              <a:t> </a:t>
            </a:r>
            <a:r>
              <a:rPr lang="en-US" dirty="0" err="1"/>
              <a:t>distribuziobe</a:t>
            </a:r>
            <a:r>
              <a:rPr lang="en-US" dirty="0"/>
              <a:t> delle </a:t>
            </a:r>
            <a:r>
              <a:rPr lang="en-US" dirty="0" err="1"/>
              <a:t>velocit`MISURATE</a:t>
            </a:r>
            <a:endParaRPr lang="en-US" dirty="0"/>
          </a:p>
          <a:p>
            <a:r>
              <a:rPr lang="en-US" dirty="0" err="1"/>
              <a:t>mostra</a:t>
            </a:r>
            <a:r>
              <a:rPr lang="en-US" dirty="0"/>
              <a:t> campana </a:t>
            </a:r>
            <a:r>
              <a:rPr lang="en-US" dirty="0" err="1"/>
              <a:t>velocita</a:t>
            </a:r>
            <a:r>
              <a:rPr lang="en-US" dirty="0"/>
              <a:t> con </a:t>
            </a:r>
            <a:r>
              <a:rPr lang="en-US" dirty="0" err="1"/>
              <a:t>rigfa</a:t>
            </a:r>
            <a:r>
              <a:rPr lang="en-US" dirty="0"/>
              <a:t> </a:t>
            </a:r>
            <a:r>
              <a:rPr lang="en-US" dirty="0" err="1"/>
              <a:t>verticale</a:t>
            </a:r>
            <a:r>
              <a:rPr lang="en-US" dirty="0"/>
              <a:t> con dove </a:t>
            </a:r>
            <a:r>
              <a:rPr lang="en-US" dirty="0" err="1"/>
              <a:t>inizia</a:t>
            </a:r>
            <a:r>
              <a:rPr lang="en-US" dirty="0"/>
              <a:t> la </a:t>
            </a:r>
            <a:r>
              <a:rPr lang="en-US" dirty="0" err="1"/>
              <a:t>infrazione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strano</a:t>
            </a:r>
            <a:r>
              <a:rPr lang="en-US" dirty="0"/>
              <a:t> </a:t>
            </a:r>
            <a:r>
              <a:rPr lang="en-US" dirty="0" err="1"/>
              <a:t>che</a:t>
            </a:r>
            <a:r>
              <a:rPr lang="en-US" dirty="0"/>
              <a:t> </a:t>
            </a:r>
            <a:r>
              <a:rPr lang="en-US" dirty="0" err="1"/>
              <a:t>c'è</a:t>
            </a:r>
            <a:r>
              <a:rPr lang="en-US" dirty="0"/>
              <a:t> </a:t>
            </a:r>
            <a:r>
              <a:rPr lang="en-US" dirty="0" err="1"/>
              <a:t>più</a:t>
            </a:r>
            <a:r>
              <a:rPr lang="en-US" dirty="0"/>
              <a:t> </a:t>
            </a:r>
            <a:r>
              <a:rPr lang="en-US" dirty="0" err="1"/>
              <a:t>traffico</a:t>
            </a:r>
            <a:r>
              <a:rPr lang="en-US" dirty="0"/>
              <a:t> alle 15 rispetto alle 17</a:t>
            </a:r>
            <a:br>
              <a:rPr lang="en-US" dirty="0"/>
            </a:br>
            <a:br>
              <a:rPr lang="en-US" dirty="0"/>
            </a:br>
            <a:r>
              <a:rPr lang="en-US" dirty="0"/>
              <a:t>Di notte non </a:t>
            </a:r>
            <a:r>
              <a:rPr lang="en-US" dirty="0" err="1"/>
              <a:t>c'è</a:t>
            </a:r>
            <a:r>
              <a:rPr lang="en-US" dirty="0"/>
              <a:t> il radar </a:t>
            </a:r>
            <a:r>
              <a:rPr lang="en-US" dirty="0" err="1"/>
              <a:t>nella</a:t>
            </a:r>
            <a:r>
              <a:rPr lang="en-US" dirty="0"/>
              <a:t> </a:t>
            </a:r>
            <a:r>
              <a:rPr lang="en-US" dirty="0" err="1"/>
              <a:t>stradina</a:t>
            </a:r>
            <a:r>
              <a:rPr lang="en-US" dirty="0"/>
              <a:t> di </a:t>
            </a:r>
            <a:r>
              <a:rPr lang="en-US" dirty="0" err="1"/>
              <a:t>paese</a:t>
            </a:r>
            <a:r>
              <a:rPr lang="en-US" dirty="0"/>
              <a:t> ma </a:t>
            </a:r>
            <a:r>
              <a:rPr lang="en-US" dirty="0" err="1"/>
              <a:t>nelle</a:t>
            </a:r>
            <a:r>
              <a:rPr lang="en-US" dirty="0"/>
              <a:t> </a:t>
            </a:r>
            <a:r>
              <a:rPr lang="en-US" dirty="0" err="1"/>
              <a:t>strade</a:t>
            </a:r>
            <a:r>
              <a:rPr lang="en-US" dirty="0"/>
              <a:t> </a:t>
            </a:r>
            <a:r>
              <a:rPr lang="en-US" dirty="0" err="1"/>
              <a:t>veloci</a:t>
            </a:r>
            <a:r>
              <a:rPr lang="en-US" dirty="0"/>
              <a:t>?</a:t>
            </a:r>
            <a:br>
              <a:rPr lang="en-US" dirty="0"/>
            </a:br>
            <a:r>
              <a:rPr lang="en-US" dirty="0"/>
              <a:t>Vedi se </a:t>
            </a:r>
            <a:r>
              <a:rPr lang="en-US" dirty="0" err="1"/>
              <a:t>è</a:t>
            </a:r>
            <a:r>
              <a:rPr lang="en-US" dirty="0"/>
              <a:t> </a:t>
            </a:r>
            <a:r>
              <a:rPr lang="en-US" dirty="0" err="1"/>
              <a:t>vero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Presentazione</a:t>
            </a:r>
            <a:r>
              <a:rPr lang="en-US" dirty="0"/>
              <a:t> intermedia </a:t>
            </a:r>
            <a:r>
              <a:rPr lang="en-US" dirty="0" err="1"/>
              <a:t>gi?a</a:t>
            </a:r>
            <a:r>
              <a:rPr lang="en-US" dirty="0"/>
              <a:t> </a:t>
            </a:r>
            <a:r>
              <a:rPr lang="en-US" dirty="0" err="1"/>
              <a:t>gfat</a:t>
            </a:r>
            <a:br>
              <a:rPr lang="en-US" dirty="0"/>
            </a:b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7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it-CH"/>
          </a:p>
        </p:txBody>
      </p:sp>
      <p:sp>
        <p:nvSpPr>
          <p:cNvPr id="3" name="Text 1"/>
          <p:cNvSpPr/>
          <p:nvPr/>
        </p:nvSpPr>
        <p:spPr>
          <a:xfrm>
            <a:off x="365760" y="45720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6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Monitoraggio</a:t>
            </a: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della </a:t>
            </a:r>
            <a:r>
              <a:rPr lang="en-US" sz="36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velocità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365760" y="109728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Canton Basilea-Città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65760" y="16916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07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Science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65760" y="20574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Andrea Pezzolla &amp; Matteo Maruca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65760" y="246888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 </a:t>
            </a:r>
            <a:r>
              <a:rPr lang="en-US" sz="1200" i="1" dirty="0" err="1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Geschwindigkeitsmonitoring</a:t>
            </a:r>
            <a:r>
              <a:rPr lang="en-US" sz="1200" i="1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– </a:t>
            </a:r>
            <a:r>
              <a:rPr lang="en-US" sz="1200" i="1" dirty="0" err="1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opendata.swiss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3108960"/>
            <a:ext cx="2560320" cy="1371600"/>
          </a:xfrm>
          <a:prstGeom prst="rect">
            <a:avLst/>
          </a:prstGeom>
          <a:solidFill>
            <a:srgbClr val="1E3057"/>
          </a:solidFill>
          <a:ln w="1905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it-CH"/>
          </a:p>
        </p:txBody>
      </p:sp>
      <p:sp>
        <p:nvSpPr>
          <p:cNvPr id="9" name="Text 7"/>
          <p:cNvSpPr/>
          <p:nvPr/>
        </p:nvSpPr>
        <p:spPr>
          <a:xfrm>
            <a:off x="457200" y="320040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~1.9 GB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457200" y="388620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Dimensione CSV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00400" y="3108960"/>
            <a:ext cx="2560320" cy="1371600"/>
          </a:xfrm>
          <a:prstGeom prst="rect">
            <a:avLst/>
          </a:prstGeom>
          <a:solidFill>
            <a:srgbClr val="1E3057"/>
          </a:solidFill>
          <a:ln w="1905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it-CH"/>
          </a:p>
        </p:txBody>
      </p:sp>
      <p:sp>
        <p:nvSpPr>
          <p:cNvPr id="12" name="Text 10"/>
          <p:cNvSpPr/>
          <p:nvPr/>
        </p:nvSpPr>
        <p:spPr>
          <a:xfrm>
            <a:off x="3291840" y="320040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3291840" y="388620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Colonne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035040" y="3108960"/>
            <a:ext cx="2560320" cy="1371600"/>
          </a:xfrm>
          <a:prstGeom prst="rect">
            <a:avLst/>
          </a:prstGeom>
          <a:solidFill>
            <a:srgbClr val="1E3057"/>
          </a:solidFill>
          <a:ln w="1905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it-CH"/>
          </a:p>
        </p:txBody>
      </p:sp>
      <p:sp>
        <p:nvSpPr>
          <p:cNvPr id="15" name="Text 13"/>
          <p:cNvSpPr/>
          <p:nvPr/>
        </p:nvSpPr>
        <p:spPr>
          <a:xfrm>
            <a:off x="6126480" y="320040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B4D8"/>
                </a:solidFill>
                <a:latin typeface="Calibri" pitchFamily="34" charset="0"/>
                <a:cs typeface="Calibri" pitchFamily="34" charset="-120"/>
              </a:rPr>
              <a:t>~5.5 </a:t>
            </a:r>
            <a:r>
              <a:rPr lang="en-US" sz="2800" b="1" dirty="0" err="1">
                <a:solidFill>
                  <a:srgbClr val="00B4D8"/>
                </a:solidFill>
                <a:latin typeface="Calibri" pitchFamily="34" charset="0"/>
                <a:cs typeface="Calibri" pitchFamily="34" charset="-120"/>
              </a:rPr>
              <a:t>mln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6126480" y="388620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Misurazioni</a:t>
            </a:r>
            <a:endParaRPr lang="en-US" sz="1200" dirty="0"/>
          </a:p>
        </p:txBody>
      </p:sp>
      <p:sp>
        <p:nvSpPr>
          <p:cNvPr id="17" name="Text 2">
            <a:extLst>
              <a:ext uri="{FF2B5EF4-FFF2-40B4-BE49-F238E27FC236}">
                <a16:creationId xmlns:a16="http://schemas.microsoft.com/office/drawing/2014/main" id="{1FBF2587-6F26-7E5B-8C40-8299E73D94BA}"/>
              </a:ext>
            </a:extLst>
          </p:cNvPr>
          <p:cNvSpPr/>
          <p:nvPr/>
        </p:nvSpPr>
        <p:spPr>
          <a:xfrm>
            <a:off x="6966373" y="2926080"/>
            <a:ext cx="69765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/>
              <a:t>🇨🇭📸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27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it-CH"/>
          </a:p>
        </p:txBody>
      </p:sp>
      <p:sp>
        <p:nvSpPr>
          <p:cNvPr id="3" name="Text 1"/>
          <p:cNvSpPr/>
          <p:nvPr/>
        </p:nvSpPr>
        <p:spPr>
          <a:xfrm>
            <a:off x="365760" y="13716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Panoramica del Dataset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777240"/>
            <a:ext cx="4389120" cy="34747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it-CH"/>
          </a:p>
        </p:txBody>
      </p:sp>
      <p:sp>
        <p:nvSpPr>
          <p:cNvPr id="5" name="Text 3"/>
          <p:cNvSpPr/>
          <p:nvPr/>
        </p:nvSpPr>
        <p:spPr>
          <a:xfrm>
            <a:off x="457200" y="795528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Cosa contiene?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261872"/>
            <a:ext cx="4389120" cy="384048"/>
          </a:xfrm>
          <a:prstGeom prst="rect">
            <a:avLst/>
          </a:prstGeom>
          <a:solidFill>
            <a:srgbClr val="162040"/>
          </a:solidFill>
          <a:ln w="12700">
            <a:solidFill>
              <a:srgbClr val="2A4580"/>
            </a:solidFill>
            <a:prstDash val="solid"/>
          </a:ln>
        </p:spPr>
        <p:txBody>
          <a:bodyPr/>
          <a:lstStyle/>
          <a:p>
            <a:endParaRPr lang="it-CH"/>
          </a:p>
        </p:txBody>
      </p:sp>
      <p:sp>
        <p:nvSpPr>
          <p:cNvPr id="7" name="Text 5"/>
          <p:cNvSpPr/>
          <p:nvPr/>
        </p:nvSpPr>
        <p:spPr>
          <a:xfrm>
            <a:off x="502920" y="1325880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⏱️  Data/ora misurazione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65760" y="1691640"/>
            <a:ext cx="4389120" cy="384048"/>
          </a:xfrm>
          <a:prstGeom prst="rect">
            <a:avLst/>
          </a:prstGeom>
          <a:solidFill>
            <a:srgbClr val="162040"/>
          </a:solidFill>
          <a:ln w="12700">
            <a:solidFill>
              <a:srgbClr val="2A4580"/>
            </a:solidFill>
            <a:prstDash val="solid"/>
          </a:ln>
        </p:spPr>
        <p:txBody>
          <a:bodyPr/>
          <a:lstStyle/>
          <a:p>
            <a:endParaRPr lang="it-CH"/>
          </a:p>
        </p:txBody>
      </p:sp>
      <p:sp>
        <p:nvSpPr>
          <p:cNvPr id="9" name="Text 7"/>
          <p:cNvSpPr/>
          <p:nvPr/>
        </p:nvSpPr>
        <p:spPr>
          <a:xfrm>
            <a:off x="502920" y="1755648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🚗  Velocità (km/h) per singolo veicolo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65760" y="2121408"/>
            <a:ext cx="4389120" cy="384048"/>
          </a:xfrm>
          <a:prstGeom prst="rect">
            <a:avLst/>
          </a:prstGeom>
          <a:solidFill>
            <a:srgbClr val="162040"/>
          </a:solidFill>
          <a:ln w="12700">
            <a:solidFill>
              <a:srgbClr val="2A4580"/>
            </a:solidFill>
            <a:prstDash val="solid"/>
          </a:ln>
        </p:spPr>
        <p:txBody>
          <a:bodyPr/>
          <a:lstStyle/>
          <a:p>
            <a:endParaRPr lang="it-CH"/>
          </a:p>
        </p:txBody>
      </p:sp>
      <p:sp>
        <p:nvSpPr>
          <p:cNvPr id="11" name="Text 9"/>
          <p:cNvSpPr/>
          <p:nvPr/>
        </p:nvSpPr>
        <p:spPr>
          <a:xfrm>
            <a:off x="502920" y="2185416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📍  Coordinate </a:t>
            </a:r>
            <a:r>
              <a:rPr lang="en-US" sz="115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geografiche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65760" y="2551176"/>
            <a:ext cx="4389120" cy="384048"/>
          </a:xfrm>
          <a:prstGeom prst="rect">
            <a:avLst/>
          </a:prstGeom>
          <a:solidFill>
            <a:srgbClr val="162040"/>
          </a:solidFill>
          <a:ln w="12700">
            <a:solidFill>
              <a:srgbClr val="2A4580"/>
            </a:solidFill>
            <a:prstDash val="solid"/>
          </a:ln>
        </p:spPr>
        <p:txBody>
          <a:bodyPr/>
          <a:lstStyle/>
          <a:p>
            <a:endParaRPr lang="it-CH"/>
          </a:p>
        </p:txBody>
      </p:sp>
      <p:sp>
        <p:nvSpPr>
          <p:cNvPr id="13" name="Text 11"/>
          <p:cNvSpPr/>
          <p:nvPr/>
        </p:nvSpPr>
        <p:spPr>
          <a:xfrm>
            <a:off x="502920" y="2615184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🛣️  Zona limite (30/50 km/h), strada e direzione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365760" y="2980944"/>
            <a:ext cx="4389120" cy="384048"/>
          </a:xfrm>
          <a:prstGeom prst="rect">
            <a:avLst/>
          </a:prstGeom>
          <a:solidFill>
            <a:srgbClr val="162040"/>
          </a:solidFill>
          <a:ln w="12700">
            <a:solidFill>
              <a:srgbClr val="2A4580"/>
            </a:solidFill>
            <a:prstDash val="solid"/>
          </a:ln>
        </p:spPr>
        <p:txBody>
          <a:bodyPr/>
          <a:lstStyle/>
          <a:p>
            <a:endParaRPr lang="it-CH"/>
          </a:p>
        </p:txBody>
      </p:sp>
      <p:sp>
        <p:nvSpPr>
          <p:cNvPr id="15" name="Text 13"/>
          <p:cNvSpPr/>
          <p:nvPr/>
        </p:nvSpPr>
        <p:spPr>
          <a:xfrm>
            <a:off x="502920" y="3044952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V50, V85 e tasso di infrazioni per postazione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365760" y="3410712"/>
            <a:ext cx="4389120" cy="384048"/>
          </a:xfrm>
          <a:prstGeom prst="rect">
            <a:avLst/>
          </a:prstGeom>
          <a:solidFill>
            <a:srgbClr val="162040"/>
          </a:solidFill>
          <a:ln w="12700">
            <a:solidFill>
              <a:srgbClr val="2A4580"/>
            </a:solidFill>
            <a:prstDash val="solid"/>
          </a:ln>
        </p:spPr>
        <p:txBody>
          <a:bodyPr/>
          <a:lstStyle/>
          <a:p>
            <a:endParaRPr lang="it-CH"/>
          </a:p>
        </p:txBody>
      </p:sp>
      <p:sp>
        <p:nvSpPr>
          <p:cNvPr id="17" name="Text 15"/>
          <p:cNvSpPr/>
          <p:nvPr/>
        </p:nvSpPr>
        <p:spPr>
          <a:xfrm>
            <a:off x="502920" y="3474720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📅  Inizio e fine periodo di misurazione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365760" y="3840480"/>
            <a:ext cx="4389120" cy="384048"/>
          </a:xfrm>
          <a:prstGeom prst="rect">
            <a:avLst/>
          </a:prstGeom>
          <a:solidFill>
            <a:srgbClr val="162040"/>
          </a:solidFill>
          <a:ln w="12700">
            <a:solidFill>
              <a:srgbClr val="2A4580"/>
            </a:solidFill>
            <a:prstDash val="solid"/>
          </a:ln>
        </p:spPr>
        <p:txBody>
          <a:bodyPr/>
          <a:lstStyle/>
          <a:p>
            <a:endParaRPr lang="it-CH"/>
          </a:p>
        </p:txBody>
      </p:sp>
      <p:sp>
        <p:nvSpPr>
          <p:cNvPr id="19" name="Text 17"/>
          <p:cNvSpPr/>
          <p:nvPr/>
        </p:nvSpPr>
        <p:spPr>
          <a:xfrm>
            <a:off x="502920" y="3904488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🔢  Conteggio veicoli e lunghezza media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365760" y="4270248"/>
            <a:ext cx="4389120" cy="384048"/>
          </a:xfrm>
          <a:prstGeom prst="rect">
            <a:avLst/>
          </a:prstGeom>
          <a:solidFill>
            <a:srgbClr val="162040"/>
          </a:solidFill>
          <a:ln w="12700">
            <a:solidFill>
              <a:srgbClr val="2A4580"/>
            </a:solidFill>
            <a:prstDash val="solid"/>
          </a:ln>
        </p:spPr>
        <p:txBody>
          <a:bodyPr/>
          <a:lstStyle/>
          <a:p>
            <a:endParaRPr lang="it-CH"/>
          </a:p>
        </p:txBody>
      </p:sp>
      <p:sp>
        <p:nvSpPr>
          <p:cNvPr id="21" name="Text 19"/>
          <p:cNvSpPr/>
          <p:nvPr/>
        </p:nvSpPr>
        <p:spPr>
          <a:xfrm>
            <a:off x="502920" y="4334256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🆔  ID misuratore con link alle statistiche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4937760" y="777240"/>
            <a:ext cx="3931920" cy="347472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  <p:txBody>
          <a:bodyPr/>
          <a:lstStyle/>
          <a:p>
            <a:endParaRPr lang="it-CH"/>
          </a:p>
        </p:txBody>
      </p:sp>
      <p:sp>
        <p:nvSpPr>
          <p:cNvPr id="23" name="Text 21"/>
          <p:cNvSpPr/>
          <p:nvPr/>
        </p:nvSpPr>
        <p:spPr>
          <a:xfrm>
            <a:off x="5029200" y="795528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 chiave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937760" y="1307592"/>
            <a:ext cx="3931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4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~5.5 </a:t>
            </a:r>
            <a:r>
              <a:rPr lang="en-US" sz="2400" b="1" dirty="0" err="1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mln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4937760" y="1700784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Misurazioni singole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937760" y="2020824"/>
            <a:ext cx="3931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0B4D8"/>
                </a:solidFill>
                <a:latin typeface="Calibri" pitchFamily="34" charset="0"/>
                <a:cs typeface="Calibri" pitchFamily="34" charset="-120"/>
              </a:rPr>
              <a:t>295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4937760" y="2414016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 err="1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Postazioni</a:t>
            </a:r>
            <a:r>
              <a:rPr lang="en-US" sz="12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radar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937760" y="2734056"/>
            <a:ext cx="3931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20/ 30 / 40 / 50 / 60 / 80</a:t>
            </a:r>
            <a:endParaRPr lang="en-US" sz="2400" dirty="0"/>
          </a:p>
        </p:txBody>
      </p:sp>
      <p:sp>
        <p:nvSpPr>
          <p:cNvPr id="29" name="Text 27"/>
          <p:cNvSpPr/>
          <p:nvPr/>
        </p:nvSpPr>
        <p:spPr>
          <a:xfrm>
            <a:off x="4937760" y="3127248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 limite (km/h)</a:t>
            </a:r>
            <a:endParaRPr lang="en-US" sz="1200" dirty="0"/>
          </a:p>
        </p:txBody>
      </p:sp>
      <p:sp>
        <p:nvSpPr>
          <p:cNvPr id="34" name="Text 24">
            <a:extLst>
              <a:ext uri="{FF2B5EF4-FFF2-40B4-BE49-F238E27FC236}">
                <a16:creationId xmlns:a16="http://schemas.microsoft.com/office/drawing/2014/main" id="{1BE88253-9CF9-F35F-5A33-F262EFB275B0}"/>
              </a:ext>
            </a:extLst>
          </p:cNvPr>
          <p:cNvSpPr/>
          <p:nvPr/>
        </p:nvSpPr>
        <p:spPr>
          <a:xfrm>
            <a:off x="4846320" y="3447288"/>
            <a:ext cx="3931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400" dirty="0"/>
          </a:p>
        </p:txBody>
      </p:sp>
      <p:sp>
        <p:nvSpPr>
          <p:cNvPr id="35" name="Text 25">
            <a:extLst>
              <a:ext uri="{FF2B5EF4-FFF2-40B4-BE49-F238E27FC236}">
                <a16:creationId xmlns:a16="http://schemas.microsoft.com/office/drawing/2014/main" id="{74C3B044-AB82-6331-7271-2BA41A980AD7}"/>
              </a:ext>
            </a:extLst>
          </p:cNvPr>
          <p:cNvSpPr/>
          <p:nvPr/>
        </p:nvSpPr>
        <p:spPr>
          <a:xfrm>
            <a:off x="4846320" y="384048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Anni di </a:t>
            </a:r>
            <a:r>
              <a:rPr lang="en-US" sz="1200" dirty="0" err="1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misurazioni</a:t>
            </a:r>
            <a:r>
              <a:rPr lang="en-US" sz="12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(dal 2024)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27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it-CH"/>
          </a:p>
        </p:txBody>
      </p:sp>
      <p:sp>
        <p:nvSpPr>
          <p:cNvPr id="3" name="Text 1"/>
          <p:cNvSpPr/>
          <p:nvPr/>
        </p:nvSpPr>
        <p:spPr>
          <a:xfrm>
            <a:off x="365760" y="13716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Struttura dei Dati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777240"/>
            <a:ext cx="2057400" cy="3657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it-CH"/>
          </a:p>
        </p:txBody>
      </p:sp>
      <p:sp>
        <p:nvSpPr>
          <p:cNvPr id="5" name="Text 3"/>
          <p:cNvSpPr/>
          <p:nvPr/>
        </p:nvSpPr>
        <p:spPr>
          <a:xfrm>
            <a:off x="411480" y="795528"/>
            <a:ext cx="1965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📅 Temporale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280160"/>
            <a:ext cx="2057400" cy="347472"/>
          </a:xfrm>
          <a:prstGeom prst="rect">
            <a:avLst/>
          </a:prstGeom>
          <a:solidFill>
            <a:srgbClr val="162040"/>
          </a:solidFill>
          <a:ln w="12700">
            <a:solidFill>
              <a:srgbClr val="2A4580"/>
            </a:solidFill>
            <a:prstDash val="solid"/>
          </a:ln>
        </p:spPr>
        <p:txBody>
          <a:bodyPr/>
          <a:lstStyle/>
          <a:p>
            <a:endParaRPr lang="it-CH"/>
          </a:p>
        </p:txBody>
      </p:sp>
      <p:sp>
        <p:nvSpPr>
          <p:cNvPr id="7" name="Text 5"/>
          <p:cNvSpPr/>
          <p:nvPr/>
        </p:nvSpPr>
        <p:spPr>
          <a:xfrm>
            <a:off x="438912" y="1325880"/>
            <a:ext cx="1911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timestamp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65760" y="1691640"/>
            <a:ext cx="2057400" cy="347472"/>
          </a:xfrm>
          <a:prstGeom prst="rect">
            <a:avLst/>
          </a:prstGeom>
          <a:solidFill>
            <a:srgbClr val="162040"/>
          </a:solidFill>
          <a:ln w="12700">
            <a:solidFill>
              <a:srgbClr val="2A4580"/>
            </a:solidFill>
            <a:prstDash val="solid"/>
          </a:ln>
        </p:spPr>
        <p:txBody>
          <a:bodyPr/>
          <a:lstStyle/>
          <a:p>
            <a:endParaRPr lang="it-CH"/>
          </a:p>
        </p:txBody>
      </p:sp>
      <p:sp>
        <p:nvSpPr>
          <p:cNvPr id="9" name="Text 7"/>
          <p:cNvSpPr/>
          <p:nvPr/>
        </p:nvSpPr>
        <p:spPr>
          <a:xfrm>
            <a:off x="438912" y="1737360"/>
            <a:ext cx="1911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65760" y="2103120"/>
            <a:ext cx="2057400" cy="347472"/>
          </a:xfrm>
          <a:prstGeom prst="rect">
            <a:avLst/>
          </a:prstGeom>
          <a:solidFill>
            <a:srgbClr val="162040"/>
          </a:solidFill>
          <a:ln w="12700">
            <a:solidFill>
              <a:srgbClr val="2A4580"/>
            </a:solidFill>
            <a:prstDash val="solid"/>
          </a:ln>
        </p:spPr>
        <p:txBody>
          <a:bodyPr/>
          <a:lstStyle/>
          <a:p>
            <a:endParaRPr lang="it-CH"/>
          </a:p>
        </p:txBody>
      </p:sp>
      <p:sp>
        <p:nvSpPr>
          <p:cNvPr id="11" name="Text 9"/>
          <p:cNvSpPr/>
          <p:nvPr/>
        </p:nvSpPr>
        <p:spPr>
          <a:xfrm>
            <a:off x="438912" y="2148840"/>
            <a:ext cx="1911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65760" y="2514600"/>
            <a:ext cx="2057400" cy="347472"/>
          </a:xfrm>
          <a:prstGeom prst="rect">
            <a:avLst/>
          </a:prstGeom>
          <a:solidFill>
            <a:srgbClr val="162040"/>
          </a:solidFill>
          <a:ln w="12700">
            <a:solidFill>
              <a:srgbClr val="2A4580"/>
            </a:solidFill>
            <a:prstDash val="solid"/>
          </a:ln>
        </p:spPr>
        <p:txBody>
          <a:bodyPr/>
          <a:lstStyle/>
          <a:p>
            <a:endParaRPr lang="it-CH"/>
          </a:p>
        </p:txBody>
      </p:sp>
      <p:sp>
        <p:nvSpPr>
          <p:cNvPr id="13" name="Text 11"/>
          <p:cNvSpPr/>
          <p:nvPr/>
        </p:nvSpPr>
        <p:spPr>
          <a:xfrm>
            <a:off x="438912" y="2560320"/>
            <a:ext cx="1911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data_ora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65760" y="2926080"/>
            <a:ext cx="2057400" cy="347472"/>
          </a:xfrm>
          <a:prstGeom prst="rect">
            <a:avLst/>
          </a:prstGeom>
          <a:solidFill>
            <a:srgbClr val="162040"/>
          </a:solidFill>
          <a:ln w="12700">
            <a:solidFill>
              <a:srgbClr val="2A4580"/>
            </a:solidFill>
            <a:prstDash val="solid"/>
          </a:ln>
        </p:spPr>
        <p:txBody>
          <a:bodyPr/>
          <a:lstStyle/>
          <a:p>
            <a:endParaRPr lang="it-CH"/>
          </a:p>
        </p:txBody>
      </p:sp>
      <p:sp>
        <p:nvSpPr>
          <p:cNvPr id="15" name="Text 13"/>
          <p:cNvSpPr/>
          <p:nvPr/>
        </p:nvSpPr>
        <p:spPr>
          <a:xfrm>
            <a:off x="438912" y="2971800"/>
            <a:ext cx="1911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inizio_misurazione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65760" y="3337560"/>
            <a:ext cx="2057400" cy="347472"/>
          </a:xfrm>
          <a:prstGeom prst="rect">
            <a:avLst/>
          </a:prstGeom>
          <a:solidFill>
            <a:srgbClr val="162040"/>
          </a:solidFill>
          <a:ln w="12700">
            <a:solidFill>
              <a:srgbClr val="2A4580"/>
            </a:solidFill>
            <a:prstDash val="solid"/>
          </a:ln>
        </p:spPr>
        <p:txBody>
          <a:bodyPr/>
          <a:lstStyle/>
          <a:p>
            <a:endParaRPr lang="it-CH"/>
          </a:p>
        </p:txBody>
      </p:sp>
      <p:sp>
        <p:nvSpPr>
          <p:cNvPr id="17" name="Text 15"/>
          <p:cNvSpPr/>
          <p:nvPr/>
        </p:nvSpPr>
        <p:spPr>
          <a:xfrm>
            <a:off x="438912" y="3383280"/>
            <a:ext cx="1911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fine_misurazione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2542032" y="777240"/>
            <a:ext cx="2057400" cy="365760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  <p:txBody>
          <a:bodyPr/>
          <a:lstStyle/>
          <a:p>
            <a:endParaRPr lang="it-CH"/>
          </a:p>
        </p:txBody>
      </p:sp>
      <p:sp>
        <p:nvSpPr>
          <p:cNvPr id="19" name="Text 17"/>
          <p:cNvSpPr/>
          <p:nvPr/>
        </p:nvSpPr>
        <p:spPr>
          <a:xfrm>
            <a:off x="2587752" y="795528"/>
            <a:ext cx="1965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🚗 Misura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2542032" y="1280160"/>
            <a:ext cx="2057400" cy="347472"/>
          </a:xfrm>
          <a:prstGeom prst="rect">
            <a:avLst/>
          </a:prstGeom>
          <a:solidFill>
            <a:srgbClr val="162040"/>
          </a:solidFill>
          <a:ln w="12700">
            <a:solidFill>
              <a:srgbClr val="2A4580"/>
            </a:solidFill>
            <a:prstDash val="solid"/>
          </a:ln>
        </p:spPr>
        <p:txBody>
          <a:bodyPr/>
          <a:lstStyle/>
          <a:p>
            <a:endParaRPr lang="it-CH"/>
          </a:p>
        </p:txBody>
      </p:sp>
      <p:sp>
        <p:nvSpPr>
          <p:cNvPr id="21" name="Text 19"/>
          <p:cNvSpPr/>
          <p:nvPr/>
        </p:nvSpPr>
        <p:spPr>
          <a:xfrm>
            <a:off x="2615184" y="1325880"/>
            <a:ext cx="1911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velocita_kmh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2542032" y="1691640"/>
            <a:ext cx="2057400" cy="347472"/>
          </a:xfrm>
          <a:prstGeom prst="rect">
            <a:avLst/>
          </a:prstGeom>
          <a:solidFill>
            <a:srgbClr val="162040"/>
          </a:solidFill>
          <a:ln w="12700">
            <a:solidFill>
              <a:srgbClr val="2A4580"/>
            </a:solidFill>
            <a:prstDash val="solid"/>
          </a:ln>
        </p:spPr>
        <p:txBody>
          <a:bodyPr/>
          <a:lstStyle/>
          <a:p>
            <a:endParaRPr lang="it-CH"/>
          </a:p>
        </p:txBody>
      </p:sp>
      <p:sp>
        <p:nvSpPr>
          <p:cNvPr id="23" name="Text 21"/>
          <p:cNvSpPr/>
          <p:nvPr/>
        </p:nvSpPr>
        <p:spPr>
          <a:xfrm>
            <a:off x="2615184" y="1737360"/>
            <a:ext cx="1911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lunghezza_veicolo_m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2542032" y="2103120"/>
            <a:ext cx="2057400" cy="347472"/>
          </a:xfrm>
          <a:prstGeom prst="rect">
            <a:avLst/>
          </a:prstGeom>
          <a:solidFill>
            <a:srgbClr val="162040"/>
          </a:solidFill>
          <a:ln w="12700">
            <a:solidFill>
              <a:srgbClr val="2A4580"/>
            </a:solidFill>
            <a:prstDash val="solid"/>
          </a:ln>
        </p:spPr>
        <p:txBody>
          <a:bodyPr/>
          <a:lstStyle/>
          <a:p>
            <a:endParaRPr lang="it-CH"/>
          </a:p>
        </p:txBody>
      </p:sp>
      <p:sp>
        <p:nvSpPr>
          <p:cNvPr id="25" name="Text 23"/>
          <p:cNvSpPr/>
          <p:nvPr/>
        </p:nvSpPr>
        <p:spPr>
          <a:xfrm>
            <a:off x="2615184" y="2148840"/>
            <a:ext cx="1911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n_veicoli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718304" y="777240"/>
            <a:ext cx="2057400" cy="365760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  <p:txBody>
          <a:bodyPr/>
          <a:lstStyle/>
          <a:p>
            <a:endParaRPr lang="it-CH"/>
          </a:p>
        </p:txBody>
      </p:sp>
      <p:sp>
        <p:nvSpPr>
          <p:cNvPr id="27" name="Text 25"/>
          <p:cNvSpPr/>
          <p:nvPr/>
        </p:nvSpPr>
        <p:spPr>
          <a:xfrm>
            <a:off x="4764024" y="795528"/>
            <a:ext cx="1965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📍 Posizione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718304" y="1280160"/>
            <a:ext cx="2057400" cy="347472"/>
          </a:xfrm>
          <a:prstGeom prst="rect">
            <a:avLst/>
          </a:prstGeom>
          <a:solidFill>
            <a:srgbClr val="162040"/>
          </a:solidFill>
          <a:ln w="12700">
            <a:solidFill>
              <a:srgbClr val="2A4580"/>
            </a:solidFill>
            <a:prstDash val="solid"/>
          </a:ln>
        </p:spPr>
        <p:txBody>
          <a:bodyPr/>
          <a:lstStyle/>
          <a:p>
            <a:endParaRPr lang="it-CH"/>
          </a:p>
        </p:txBody>
      </p:sp>
      <p:sp>
        <p:nvSpPr>
          <p:cNvPr id="29" name="Text 27"/>
          <p:cNvSpPr/>
          <p:nvPr/>
        </p:nvSpPr>
        <p:spPr>
          <a:xfrm>
            <a:off x="4791456" y="1325880"/>
            <a:ext cx="1911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localita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718304" y="1691640"/>
            <a:ext cx="2057400" cy="347472"/>
          </a:xfrm>
          <a:prstGeom prst="rect">
            <a:avLst/>
          </a:prstGeom>
          <a:solidFill>
            <a:srgbClr val="162040"/>
          </a:solidFill>
          <a:ln w="12700">
            <a:solidFill>
              <a:srgbClr val="2A4580"/>
            </a:solidFill>
            <a:prstDash val="solid"/>
          </a:ln>
        </p:spPr>
        <p:txBody>
          <a:bodyPr/>
          <a:lstStyle/>
          <a:p>
            <a:endParaRPr lang="it-CH"/>
          </a:p>
        </p:txBody>
      </p:sp>
      <p:sp>
        <p:nvSpPr>
          <p:cNvPr id="31" name="Text 29"/>
          <p:cNvSpPr/>
          <p:nvPr/>
        </p:nvSpPr>
        <p:spPr>
          <a:xfrm>
            <a:off x="4791456" y="1737360"/>
            <a:ext cx="1911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4718304" y="2103120"/>
            <a:ext cx="2057400" cy="347472"/>
          </a:xfrm>
          <a:prstGeom prst="rect">
            <a:avLst/>
          </a:prstGeom>
          <a:solidFill>
            <a:srgbClr val="162040"/>
          </a:solidFill>
          <a:ln w="12700">
            <a:solidFill>
              <a:srgbClr val="2A4580"/>
            </a:solidFill>
            <a:prstDash val="solid"/>
          </a:ln>
        </p:spPr>
        <p:txBody>
          <a:bodyPr/>
          <a:lstStyle/>
          <a:p>
            <a:endParaRPr lang="it-CH"/>
          </a:p>
        </p:txBody>
      </p:sp>
      <p:sp>
        <p:nvSpPr>
          <p:cNvPr id="33" name="Text 31"/>
          <p:cNvSpPr/>
          <p:nvPr/>
        </p:nvSpPr>
        <p:spPr>
          <a:xfrm>
            <a:off x="4791456" y="2148840"/>
            <a:ext cx="1911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numero_civico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4718304" y="2514600"/>
            <a:ext cx="2057400" cy="347472"/>
          </a:xfrm>
          <a:prstGeom prst="rect">
            <a:avLst/>
          </a:prstGeom>
          <a:solidFill>
            <a:srgbClr val="162040"/>
          </a:solidFill>
          <a:ln w="12700">
            <a:solidFill>
              <a:srgbClr val="2A4580"/>
            </a:solidFill>
            <a:prstDash val="solid"/>
          </a:ln>
        </p:spPr>
        <p:txBody>
          <a:bodyPr/>
          <a:lstStyle/>
          <a:p>
            <a:endParaRPr lang="it-CH"/>
          </a:p>
        </p:txBody>
      </p:sp>
      <p:sp>
        <p:nvSpPr>
          <p:cNvPr id="35" name="Text 33"/>
          <p:cNvSpPr/>
          <p:nvPr/>
        </p:nvSpPr>
        <p:spPr>
          <a:xfrm>
            <a:off x="4791456" y="2560320"/>
            <a:ext cx="1911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direzione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4718304" y="2926080"/>
            <a:ext cx="2057400" cy="347472"/>
          </a:xfrm>
          <a:prstGeom prst="rect">
            <a:avLst/>
          </a:prstGeom>
          <a:solidFill>
            <a:srgbClr val="162040"/>
          </a:solidFill>
          <a:ln w="12700">
            <a:solidFill>
              <a:srgbClr val="2A4580"/>
            </a:solidFill>
            <a:prstDash val="solid"/>
          </a:ln>
        </p:spPr>
        <p:txBody>
          <a:bodyPr/>
          <a:lstStyle/>
          <a:p>
            <a:endParaRPr lang="it-CH"/>
          </a:p>
        </p:txBody>
      </p:sp>
      <p:sp>
        <p:nvSpPr>
          <p:cNvPr id="37" name="Text 35"/>
          <p:cNvSpPr/>
          <p:nvPr/>
        </p:nvSpPr>
        <p:spPr>
          <a:xfrm>
            <a:off x="4791456" y="2971800"/>
            <a:ext cx="1911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coordinate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4718304" y="3337560"/>
            <a:ext cx="2057400" cy="347472"/>
          </a:xfrm>
          <a:prstGeom prst="rect">
            <a:avLst/>
          </a:prstGeom>
          <a:solidFill>
            <a:srgbClr val="162040"/>
          </a:solidFill>
          <a:ln w="12700">
            <a:solidFill>
              <a:srgbClr val="2A4580"/>
            </a:solidFill>
            <a:prstDash val="solid"/>
          </a:ln>
        </p:spPr>
        <p:txBody>
          <a:bodyPr/>
          <a:lstStyle/>
          <a:p>
            <a:endParaRPr lang="it-CH"/>
          </a:p>
        </p:txBody>
      </p:sp>
      <p:sp>
        <p:nvSpPr>
          <p:cNvPr id="39" name="Text 37"/>
          <p:cNvSpPr/>
          <p:nvPr/>
        </p:nvSpPr>
        <p:spPr>
          <a:xfrm>
            <a:off x="4791456" y="3383280"/>
            <a:ext cx="1911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geo_point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6894576" y="777240"/>
            <a:ext cx="2057400" cy="365760"/>
          </a:xfrm>
          <a:prstGeom prst="rect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  <p:txBody>
          <a:bodyPr/>
          <a:lstStyle/>
          <a:p>
            <a:endParaRPr lang="it-CH"/>
          </a:p>
        </p:txBody>
      </p:sp>
      <p:sp>
        <p:nvSpPr>
          <p:cNvPr id="41" name="Text 39"/>
          <p:cNvSpPr/>
          <p:nvPr/>
        </p:nvSpPr>
        <p:spPr>
          <a:xfrm>
            <a:off x="6940296" y="795528"/>
            <a:ext cx="1965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Statistiche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6894576" y="1280160"/>
            <a:ext cx="2057400" cy="347472"/>
          </a:xfrm>
          <a:prstGeom prst="rect">
            <a:avLst/>
          </a:prstGeom>
          <a:solidFill>
            <a:srgbClr val="162040"/>
          </a:solidFill>
          <a:ln w="12700">
            <a:solidFill>
              <a:srgbClr val="2A4580"/>
            </a:solidFill>
            <a:prstDash val="solid"/>
          </a:ln>
        </p:spPr>
        <p:txBody>
          <a:bodyPr/>
          <a:lstStyle/>
          <a:p>
            <a:endParaRPr lang="it-CH"/>
          </a:p>
        </p:txBody>
      </p:sp>
      <p:sp>
        <p:nvSpPr>
          <p:cNvPr id="43" name="Text 41"/>
          <p:cNvSpPr/>
          <p:nvPr/>
        </p:nvSpPr>
        <p:spPr>
          <a:xfrm>
            <a:off x="6967728" y="1325880"/>
            <a:ext cx="1911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zona_limite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6894576" y="1691640"/>
            <a:ext cx="2057400" cy="347472"/>
          </a:xfrm>
          <a:prstGeom prst="rect">
            <a:avLst/>
          </a:prstGeom>
          <a:solidFill>
            <a:srgbClr val="162040"/>
          </a:solidFill>
          <a:ln w="12700">
            <a:solidFill>
              <a:srgbClr val="2A4580"/>
            </a:solidFill>
            <a:prstDash val="solid"/>
          </a:ln>
        </p:spPr>
        <p:txBody>
          <a:bodyPr/>
          <a:lstStyle/>
          <a:p>
            <a:endParaRPr lang="it-CH"/>
          </a:p>
        </p:txBody>
      </p:sp>
      <p:sp>
        <p:nvSpPr>
          <p:cNvPr id="45" name="Text 43"/>
          <p:cNvSpPr/>
          <p:nvPr/>
        </p:nvSpPr>
        <p:spPr>
          <a:xfrm>
            <a:off x="6967728" y="1737360"/>
            <a:ext cx="1911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tasso_infrazioni_pct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6894576" y="2103120"/>
            <a:ext cx="2057400" cy="347472"/>
          </a:xfrm>
          <a:prstGeom prst="rect">
            <a:avLst/>
          </a:prstGeom>
          <a:solidFill>
            <a:srgbClr val="162040"/>
          </a:solidFill>
          <a:ln w="12700">
            <a:solidFill>
              <a:srgbClr val="2A4580"/>
            </a:solidFill>
            <a:prstDash val="solid"/>
          </a:ln>
        </p:spPr>
        <p:txBody>
          <a:bodyPr/>
          <a:lstStyle/>
          <a:p>
            <a:endParaRPr lang="it-CH"/>
          </a:p>
        </p:txBody>
      </p:sp>
      <p:sp>
        <p:nvSpPr>
          <p:cNvPr id="47" name="Text 45"/>
          <p:cNvSpPr/>
          <p:nvPr/>
        </p:nvSpPr>
        <p:spPr>
          <a:xfrm>
            <a:off x="6967728" y="2148840"/>
            <a:ext cx="1911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v50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6894576" y="2514600"/>
            <a:ext cx="2057400" cy="347472"/>
          </a:xfrm>
          <a:prstGeom prst="rect">
            <a:avLst/>
          </a:prstGeom>
          <a:solidFill>
            <a:srgbClr val="162040"/>
          </a:solidFill>
          <a:ln w="12700">
            <a:solidFill>
              <a:srgbClr val="2A4580"/>
            </a:solidFill>
            <a:prstDash val="solid"/>
          </a:ln>
        </p:spPr>
        <p:txBody>
          <a:bodyPr/>
          <a:lstStyle/>
          <a:p>
            <a:endParaRPr lang="it-CH"/>
          </a:p>
        </p:txBody>
      </p:sp>
      <p:sp>
        <p:nvSpPr>
          <p:cNvPr id="49" name="Text 47"/>
          <p:cNvSpPr/>
          <p:nvPr/>
        </p:nvSpPr>
        <p:spPr>
          <a:xfrm>
            <a:off x="6967728" y="2560320"/>
            <a:ext cx="1911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v85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6894576" y="2926080"/>
            <a:ext cx="2057400" cy="347472"/>
          </a:xfrm>
          <a:prstGeom prst="rect">
            <a:avLst/>
          </a:prstGeom>
          <a:solidFill>
            <a:srgbClr val="162040"/>
          </a:solidFill>
          <a:ln w="12700">
            <a:solidFill>
              <a:srgbClr val="2A4580"/>
            </a:solidFill>
            <a:prstDash val="solid"/>
          </a:ln>
        </p:spPr>
        <p:txBody>
          <a:bodyPr/>
          <a:lstStyle/>
          <a:p>
            <a:endParaRPr lang="it-CH"/>
          </a:p>
        </p:txBody>
      </p:sp>
      <p:sp>
        <p:nvSpPr>
          <p:cNvPr id="51" name="Text 49"/>
          <p:cNvSpPr/>
          <p:nvPr/>
        </p:nvSpPr>
        <p:spPr>
          <a:xfrm>
            <a:off x="6967728" y="2971800"/>
            <a:ext cx="1911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id_postazione</a:t>
            </a:r>
            <a:endParaRPr lang="en-US" sz="1050" dirty="0"/>
          </a:p>
        </p:txBody>
      </p:sp>
      <p:sp>
        <p:nvSpPr>
          <p:cNvPr id="52" name="Shape 50"/>
          <p:cNvSpPr/>
          <p:nvPr/>
        </p:nvSpPr>
        <p:spPr>
          <a:xfrm>
            <a:off x="365760" y="4160520"/>
            <a:ext cx="8503920" cy="749808"/>
          </a:xfrm>
          <a:prstGeom prst="rect">
            <a:avLst/>
          </a:prstGeom>
          <a:solidFill>
            <a:srgbClr val="1E3057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it-CH"/>
          </a:p>
        </p:txBody>
      </p:sp>
      <p:sp>
        <p:nvSpPr>
          <p:cNvPr id="53" name="Text 51"/>
          <p:cNvSpPr/>
          <p:nvPr/>
        </p:nvSpPr>
        <p:spPr>
          <a:xfrm>
            <a:off x="502920" y="420624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Esempio riga: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502920" y="4453128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>
                <a:solidFill>
                  <a:srgbClr val="B0BE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2025-04-06 20:07:05  |  ID: 1003  | </a:t>
            </a:r>
            <a:r>
              <a:rPr lang="en-US" sz="1000" dirty="0" err="1">
                <a:solidFill>
                  <a:srgbClr val="B0BE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Direzione_ID</a:t>
            </a:r>
            <a:r>
              <a:rPr lang="en-US" sz="1000" dirty="0">
                <a:solidFill>
                  <a:srgbClr val="B0BE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1 | </a:t>
            </a:r>
            <a:r>
              <a:rPr lang="en-US" sz="1000" dirty="0" err="1">
                <a:solidFill>
                  <a:srgbClr val="B0BE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Inizio</a:t>
            </a:r>
            <a:r>
              <a:rPr lang="en-US" sz="1000" dirty="0">
                <a:solidFill>
                  <a:srgbClr val="B0BE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000" dirty="0" err="1">
                <a:solidFill>
                  <a:srgbClr val="B0BE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misurazione</a:t>
            </a:r>
            <a:r>
              <a:rPr lang="en-US" sz="1000" dirty="0">
                <a:solidFill>
                  <a:srgbClr val="B0BE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2025-04-05 | Fine </a:t>
            </a:r>
            <a:r>
              <a:rPr lang="en-US" sz="1000" dirty="0" err="1">
                <a:solidFill>
                  <a:srgbClr val="B0BE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misurazione</a:t>
            </a:r>
            <a:r>
              <a:rPr lang="en-US" sz="1000" dirty="0">
                <a:solidFill>
                  <a:srgbClr val="B0BE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2025-04-10 | Zona: 30km/h | </a:t>
            </a:r>
            <a:r>
              <a:rPr lang="en-US" sz="1000" dirty="0" err="1">
                <a:solidFill>
                  <a:srgbClr val="B0BE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Direzione</a:t>
            </a:r>
            <a:r>
              <a:rPr lang="en-US" sz="1000" dirty="0">
                <a:solidFill>
                  <a:srgbClr val="B0BE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</a:t>
            </a:r>
            <a:r>
              <a:rPr lang="en-US" sz="1000" dirty="0" err="1">
                <a:solidFill>
                  <a:srgbClr val="B0BE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Holbeinplatz</a:t>
            </a:r>
            <a:r>
              <a:rPr lang="en-US" sz="1000" dirty="0">
                <a:solidFill>
                  <a:srgbClr val="B0BE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| Coordinate: xxx | Tasso di </a:t>
            </a:r>
            <a:r>
              <a:rPr lang="en-US" sz="1000" dirty="0" err="1">
                <a:solidFill>
                  <a:srgbClr val="B0BE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infrazione</a:t>
            </a:r>
            <a:r>
              <a:rPr lang="en-US" sz="1000" dirty="0">
                <a:solidFill>
                  <a:srgbClr val="B0BE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9.93 |  </a:t>
            </a:r>
            <a:r>
              <a:rPr lang="en-US" sz="1000" dirty="0" err="1">
                <a:solidFill>
                  <a:srgbClr val="B0BE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Velocità</a:t>
            </a:r>
            <a:r>
              <a:rPr lang="en-US" sz="1000" dirty="0">
                <a:solidFill>
                  <a:srgbClr val="B0BE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32.0 km/h | …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27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it-CH"/>
          </a:p>
        </p:txBody>
      </p:sp>
      <p:sp>
        <p:nvSpPr>
          <p:cNvPr id="3" name="Text 1"/>
          <p:cNvSpPr/>
          <p:nvPr/>
        </p:nvSpPr>
        <p:spPr>
          <a:xfrm>
            <a:off x="365760" y="164592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15 </a:t>
            </a:r>
            <a:r>
              <a:rPr lang="en-US" sz="2200" b="1" dirty="0" err="1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Postazioni</a:t>
            </a:r>
            <a:r>
              <a:rPr lang="en-US" sz="2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per Tasso di Infrazioni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04672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 err="1">
                <a:solidFill>
                  <a:srgbClr val="B0BEC5"/>
                </a:solidFill>
                <a:latin typeface="Calibri" pitchFamily="34" charset="0"/>
                <a:cs typeface="Calibri" pitchFamily="34" charset="-120"/>
              </a:rPr>
              <a:t>Postazioni</a:t>
            </a:r>
            <a:r>
              <a:rPr lang="en-US" sz="1300" i="1" dirty="0">
                <a:solidFill>
                  <a:srgbClr val="B0BEC5"/>
                </a:solidFill>
                <a:latin typeface="Calibri" pitchFamily="34" charset="0"/>
                <a:cs typeface="Calibri" pitchFamily="34" charset="-120"/>
              </a:rPr>
              <a:t> con la </a:t>
            </a:r>
            <a:r>
              <a:rPr lang="en-US" sz="1300" i="1" dirty="0" err="1">
                <a:solidFill>
                  <a:srgbClr val="B0BEC5"/>
                </a:solidFill>
                <a:latin typeface="Calibri" pitchFamily="34" charset="0"/>
                <a:cs typeface="Calibri" pitchFamily="34" charset="-120"/>
              </a:rPr>
              <a:t>maggior</a:t>
            </a:r>
            <a:r>
              <a:rPr lang="en-US" sz="1300" i="1" dirty="0">
                <a:solidFill>
                  <a:srgbClr val="B0BEC5"/>
                </a:solidFill>
                <a:latin typeface="Calibri" pitchFamily="34" charset="0"/>
                <a:cs typeface="Calibri" pitchFamily="34" charset="-120"/>
              </a:rPr>
              <a:t> </a:t>
            </a:r>
            <a:r>
              <a:rPr lang="en-US" sz="1300" i="1" dirty="0" err="1">
                <a:solidFill>
                  <a:srgbClr val="B0BEC5"/>
                </a:solidFill>
                <a:latin typeface="Calibri" pitchFamily="34" charset="0"/>
                <a:cs typeface="Calibri" pitchFamily="34" charset="-120"/>
              </a:rPr>
              <a:t>percentaule</a:t>
            </a:r>
            <a:r>
              <a:rPr lang="en-US" sz="1300" i="1" dirty="0">
                <a:solidFill>
                  <a:srgbClr val="B0BEC5"/>
                </a:solidFill>
                <a:latin typeface="Calibri" pitchFamily="34" charset="0"/>
                <a:cs typeface="Calibri" pitchFamily="34" charset="-120"/>
              </a:rPr>
              <a:t> di </a:t>
            </a:r>
            <a:r>
              <a:rPr lang="en-US" sz="1300" i="1" dirty="0" err="1">
                <a:solidFill>
                  <a:srgbClr val="B0BEC5"/>
                </a:solidFill>
                <a:latin typeface="Calibri" pitchFamily="34" charset="0"/>
                <a:cs typeface="Calibri" pitchFamily="34" charset="-120"/>
              </a:rPr>
              <a:t>infrazioni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234440"/>
            <a:ext cx="8503920" cy="3611880"/>
          </a:xfrm>
          <a:prstGeom prst="rect">
            <a:avLst/>
          </a:prstGeom>
          <a:solidFill>
            <a:srgbClr val="1E3057"/>
          </a:solidFill>
          <a:ln w="12700">
            <a:solidFill>
              <a:srgbClr val="2A4580"/>
            </a:solidFill>
            <a:prstDash val="solid"/>
          </a:ln>
        </p:spPr>
        <p:txBody>
          <a:bodyPr/>
          <a:lstStyle/>
          <a:p>
            <a:endParaRPr lang="it-CH"/>
          </a:p>
        </p:txBody>
      </p:sp>
      <p:sp>
        <p:nvSpPr>
          <p:cNvPr id="6" name="Text 4"/>
          <p:cNvSpPr/>
          <p:nvPr/>
        </p:nvSpPr>
        <p:spPr>
          <a:xfrm>
            <a:off x="365760" y="1234440"/>
            <a:ext cx="8503920" cy="3611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A4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grafico ]</a:t>
            </a:r>
            <a:endParaRPr lang="en-US" sz="1400" dirty="0"/>
          </a:p>
        </p:txBody>
      </p:sp>
      <p:pic>
        <p:nvPicPr>
          <p:cNvPr id="12" name="Immagine 11">
            <a:extLst>
              <a:ext uri="{FF2B5EF4-FFF2-40B4-BE49-F238E27FC236}">
                <a16:creationId xmlns:a16="http://schemas.microsoft.com/office/drawing/2014/main" id="{61E0DCA6-117F-5A7A-4D42-2E2248DF12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234439"/>
            <a:ext cx="8494604" cy="361187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27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it-CH"/>
          </a:p>
        </p:txBody>
      </p:sp>
      <p:sp>
        <p:nvSpPr>
          <p:cNvPr id="3" name="Text 1"/>
          <p:cNvSpPr/>
          <p:nvPr/>
        </p:nvSpPr>
        <p:spPr>
          <a:xfrm>
            <a:off x="365760" y="164592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Mappa di Calore – Giorno della Settimana e Ora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04672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Heatmap – velocita_kmh media per </a:t>
            </a:r>
            <a:r>
              <a:rPr lang="en-US" sz="1300" i="1" dirty="0" err="1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giorno</a:t>
            </a:r>
            <a:r>
              <a:rPr lang="en-US" sz="1300" i="1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× ora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234440"/>
            <a:ext cx="8503920" cy="3611880"/>
          </a:xfrm>
          <a:prstGeom prst="rect">
            <a:avLst/>
          </a:prstGeom>
          <a:solidFill>
            <a:srgbClr val="1E3057"/>
          </a:solidFill>
          <a:ln w="12700">
            <a:solidFill>
              <a:srgbClr val="2A4580"/>
            </a:solidFill>
            <a:prstDash val="solid"/>
          </a:ln>
        </p:spPr>
        <p:txBody>
          <a:bodyPr/>
          <a:lstStyle/>
          <a:p>
            <a:endParaRPr lang="it-CH"/>
          </a:p>
        </p:txBody>
      </p:sp>
      <p:sp>
        <p:nvSpPr>
          <p:cNvPr id="6" name="Text 4"/>
          <p:cNvSpPr/>
          <p:nvPr/>
        </p:nvSpPr>
        <p:spPr>
          <a:xfrm>
            <a:off x="365760" y="1234440"/>
            <a:ext cx="8503920" cy="3611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A4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grafico ]</a:t>
            </a:r>
            <a:endParaRPr lang="en-US" sz="1400" dirty="0"/>
          </a:p>
        </p:txBody>
      </p:sp>
      <p:pic>
        <p:nvPicPr>
          <p:cNvPr id="12" name="Immagine 11">
            <a:extLst>
              <a:ext uri="{FF2B5EF4-FFF2-40B4-BE49-F238E27FC236}">
                <a16:creationId xmlns:a16="http://schemas.microsoft.com/office/drawing/2014/main" id="{8F8FBDB0-6A36-CB34-BBFE-D20411E9CA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59" y="1234440"/>
            <a:ext cx="8494607" cy="36118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27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it-CH"/>
          </a:p>
        </p:txBody>
      </p:sp>
      <p:sp>
        <p:nvSpPr>
          <p:cNvPr id="3" name="Text 1"/>
          <p:cNvSpPr/>
          <p:nvPr/>
        </p:nvSpPr>
        <p:spPr>
          <a:xfrm>
            <a:off x="365760" y="164592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Analisi Future Pianificate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838830"/>
            <a:ext cx="8503920" cy="4007490"/>
          </a:xfrm>
          <a:prstGeom prst="rect">
            <a:avLst/>
          </a:prstGeom>
          <a:solidFill>
            <a:srgbClr val="1E3057"/>
          </a:solidFill>
          <a:ln w="12700">
            <a:solidFill>
              <a:srgbClr val="2A4580"/>
            </a:solidFill>
            <a:prstDash val="solid"/>
          </a:ln>
        </p:spPr>
        <p:txBody>
          <a:bodyPr/>
          <a:lstStyle/>
          <a:p>
            <a:endParaRPr lang="it-CH"/>
          </a:p>
        </p:txBody>
      </p:sp>
      <p:sp>
        <p:nvSpPr>
          <p:cNvPr id="6" name="Text 4"/>
          <p:cNvSpPr/>
          <p:nvPr/>
        </p:nvSpPr>
        <p:spPr>
          <a:xfrm>
            <a:off x="365760" y="1234440"/>
            <a:ext cx="8503920" cy="3611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87688" y="958740"/>
            <a:ext cx="8181991" cy="36737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Font typeface="+mj-lt"/>
              <a:buAutoNum type="arabicPeriod"/>
            </a:pPr>
            <a:r>
              <a:rPr lang="en-US" sz="2400" i="1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Mappa </a:t>
            </a:r>
            <a:r>
              <a:rPr lang="en-US" sz="2400" i="1" dirty="0" err="1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interattiva</a:t>
            </a:r>
            <a:r>
              <a:rPr lang="en-US" sz="2400" i="1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400" i="1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 </a:t>
            </a:r>
            <a:r>
              <a:rPr lang="en-US" sz="2400" i="1" dirty="0" err="1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temporale</a:t>
            </a:r>
            <a:r>
              <a:rPr lang="en-US" sz="2400" i="1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400" i="1" dirty="0" err="1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Correlazione</a:t>
            </a:r>
            <a:r>
              <a:rPr lang="en-US" sz="2400" i="1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400" i="1" dirty="0" err="1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meteo</a:t>
            </a:r>
            <a:r>
              <a:rPr lang="en-US" sz="2400" i="1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400" i="1" dirty="0" err="1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Differenza</a:t>
            </a:r>
            <a:r>
              <a:rPr lang="en-US" sz="2400" i="1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400" i="1" dirty="0" err="1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velocità</a:t>
            </a:r>
            <a:r>
              <a:rPr lang="en-US" sz="2400" i="1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– </a:t>
            </a:r>
            <a:r>
              <a:rPr lang="en-US" sz="2400" i="1" dirty="0" err="1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</a:t>
            </a:r>
            <a:r>
              <a:rPr lang="en-US" sz="2400" i="1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di </a:t>
            </a:r>
            <a:r>
              <a:rPr lang="en-US" sz="2400" i="1" dirty="0" err="1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veicolo</a:t>
            </a:r>
            <a:r>
              <a:rPr lang="en-US" sz="2400" i="1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(moto/camion)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400" i="1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400" i="1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Consigli?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27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it-CH"/>
          </a:p>
        </p:txBody>
      </p:sp>
      <p:sp>
        <p:nvSpPr>
          <p:cNvPr id="3" name="Text 1"/>
          <p:cNvSpPr/>
          <p:nvPr/>
        </p:nvSpPr>
        <p:spPr>
          <a:xfrm>
            <a:off x="365760" y="45720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Conclusioni &amp; Prossimi Passi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1234440"/>
            <a:ext cx="8503920" cy="3611880"/>
          </a:xfrm>
          <a:prstGeom prst="rect">
            <a:avLst/>
          </a:prstGeom>
          <a:solidFill>
            <a:srgbClr val="1E3057"/>
          </a:solidFill>
          <a:ln w="12700">
            <a:solidFill>
              <a:srgbClr val="2A4580"/>
            </a:solidFill>
            <a:prstDash val="solid"/>
          </a:ln>
        </p:spPr>
        <p:txBody>
          <a:bodyPr/>
          <a:lstStyle/>
          <a:p>
            <a:endParaRPr lang="it-CH"/>
          </a:p>
        </p:txBody>
      </p:sp>
      <p:sp>
        <p:nvSpPr>
          <p:cNvPr id="5" name="Text 3"/>
          <p:cNvSpPr/>
          <p:nvPr/>
        </p:nvSpPr>
        <p:spPr>
          <a:xfrm>
            <a:off x="365760" y="1234440"/>
            <a:ext cx="8503920" cy="3611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400" dirty="0"/>
          </a:p>
        </p:txBody>
      </p:sp>
      <p:sp>
        <p:nvSpPr>
          <p:cNvPr id="6" name="Text 2">
            <a:extLst>
              <a:ext uri="{FF2B5EF4-FFF2-40B4-BE49-F238E27FC236}">
                <a16:creationId xmlns:a16="http://schemas.microsoft.com/office/drawing/2014/main" id="{6A5EC037-901C-9B09-8D52-3D7B268D9A64}"/>
              </a:ext>
            </a:extLst>
          </p:cNvPr>
          <p:cNvSpPr/>
          <p:nvPr/>
        </p:nvSpPr>
        <p:spPr>
          <a:xfrm>
            <a:off x="526724" y="1234440"/>
            <a:ext cx="8181991" cy="36737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i="1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Dati: </a:t>
            </a:r>
            <a:r>
              <a:rPr lang="en-US" sz="2400" i="1" dirty="0" err="1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Informazioni</a:t>
            </a:r>
            <a:r>
              <a:rPr lang="en-US" sz="2400" i="1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400" i="1" dirty="0" err="1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</a:t>
            </a:r>
            <a:r>
              <a:rPr lang="en-US" sz="2400" i="1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 </a:t>
            </a:r>
            <a:r>
              <a:rPr lang="en-US" sz="2400" i="1" dirty="0" err="1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locali</a:t>
            </a:r>
            <a:r>
              <a:rPr lang="en-US" sz="2400" i="1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400" i="1" dirty="0" err="1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sul</a:t>
            </a:r>
            <a:r>
              <a:rPr lang="en-US" sz="2400" i="1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400" i="1" dirty="0" err="1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traffico</a:t>
            </a:r>
            <a:r>
              <a:rPr lang="en-US" sz="2400" i="1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400" i="1" dirty="0" err="1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svizzero</a:t>
            </a:r>
            <a:r>
              <a:rPr lang="en-US" sz="2400" i="1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</a:p>
          <a:p>
            <a:r>
              <a:rPr lang="en-US" sz="2400" i="1" dirty="0" err="1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L'Obiettivo</a:t>
            </a:r>
            <a:r>
              <a:rPr lang="en-US" sz="2400" i="1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</a:t>
            </a:r>
            <a:r>
              <a:rPr lang="en-US" sz="2400" i="1" dirty="0" err="1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Promuovere</a:t>
            </a:r>
            <a:r>
              <a:rPr lang="en-US" sz="2400" i="1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la </a:t>
            </a:r>
            <a:r>
              <a:rPr lang="en-US" sz="2400" i="1" dirty="0" err="1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sicurezza</a:t>
            </a:r>
            <a:r>
              <a:rPr lang="en-US" sz="2400" i="1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400" i="1" dirty="0" err="1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stradale</a:t>
            </a:r>
            <a:r>
              <a:rPr lang="en-US" sz="2400" i="1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400" i="1" dirty="0" err="1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urbana</a:t>
            </a:r>
            <a:r>
              <a:rPr lang="en-US" sz="2400" i="1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</a:p>
          <a:p>
            <a:endParaRPr lang="en-US" sz="2400" i="1" dirty="0">
              <a:solidFill>
                <a:srgbClr val="B0BEC5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r>
              <a:rPr lang="en-US" sz="2400" i="1" dirty="0" err="1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Prossimo</a:t>
            </a:r>
            <a:r>
              <a:rPr lang="en-US" sz="2400" i="1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step: </a:t>
            </a:r>
            <a:r>
              <a:rPr lang="en-US" sz="2400" i="1" dirty="0" err="1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presentazione</a:t>
            </a:r>
            <a:r>
              <a:rPr lang="en-US" sz="2400" i="1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intermedia.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168</TotalTime>
  <Words>403</Words>
  <Application>Microsoft Macintosh PowerPoint</Application>
  <PresentationFormat>Presentazione su schermo (16:9)</PresentationFormat>
  <Paragraphs>87</Paragraphs>
  <Slides>7</Slides>
  <Notes>7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3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7</vt:i4>
      </vt:variant>
    </vt:vector>
  </HeadingPairs>
  <TitlesOfParts>
    <vt:vector size="11" baseType="lpstr">
      <vt:lpstr>Arial</vt:lpstr>
      <vt:lpstr>Calibri</vt:lpstr>
      <vt:lpstr>Consolas</vt:lpstr>
      <vt:lpstr>Office Theme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Geschwindigkeitsmonitoring Basel-Stadt</dc:title>
  <dc:subject>PptxGenJS Presentation</dc:subject>
  <dc:creator>PptxGenJS</dc:creator>
  <cp:lastModifiedBy>Pezzolla Andrea</cp:lastModifiedBy>
  <cp:revision>5</cp:revision>
  <dcterms:created xsi:type="dcterms:W3CDTF">2026-05-03T13:02:29Z</dcterms:created>
  <dcterms:modified xsi:type="dcterms:W3CDTF">2026-05-07T06:58:59Z</dcterms:modified>
</cp:coreProperties>
</file>